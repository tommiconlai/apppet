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63" r:id="rId4"/>
    <p:sldId id="264" r:id="rId5"/>
    <p:sldId id="259" r:id="rId6"/>
    <p:sldId id="266" r:id="rId7"/>
    <p:sldId id="268" r:id="rId8"/>
    <p:sldId id="262" r:id="rId9"/>
    <p:sldId id="265" r:id="rId10"/>
    <p:sldId id="260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9144000" cy="5143500" type="screen16x9"/>
  <p:notesSz cx="6858000" cy="9144000"/>
  <p:embeddedFontLst>
    <p:embeddedFont>
      <p:font typeface="Amasis MT Pro" panose="02040504050005020304" pitchFamily="18" charset="0"/>
      <p:regular r:id="rId22"/>
      <p:bold r:id="rId23"/>
      <p:italic r:id="rId24"/>
      <p:boldItalic r:id="rId25"/>
    </p:embeddedFont>
    <p:embeddedFont>
      <p:font typeface="Old Standard TT" panose="020B0604020202020204" charset="0"/>
      <p:regular r:id="rId26"/>
      <p:bold r:id="rId27"/>
      <p: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41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(implementazione futura)</a:t>
            </a:r>
          </a:p>
          <a:p>
            <a:r>
              <a:rPr lang="it-IT" dirty="0"/>
              <a:t>Gestione prenotazioni dei clienti (implementazione futura)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7B37A-4E82-DB05-6CE8-A7777796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STRUMENTI UTILIZZATI</a:t>
            </a:r>
          </a:p>
        </p:txBody>
      </p:sp>
      <p:pic>
        <p:nvPicPr>
          <p:cNvPr id="5" name="Immagine 4" descr="Immagine che contiene cartone animato, clipart, Arte bambini, arte&#10;&#10;Il contenuto generato dall'IA potrebbe non essere corretto.">
            <a:extLst>
              <a:ext uri="{FF2B5EF4-FFF2-40B4-BE49-F238E27FC236}">
                <a16:creationId xmlns:a16="http://schemas.microsoft.com/office/drawing/2014/main" id="{C938877A-CD7A-0DAB-8EFD-A25675D37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551" y="2779581"/>
            <a:ext cx="797056" cy="794791"/>
          </a:xfrm>
          <a:prstGeom prst="rect">
            <a:avLst/>
          </a:prstGeom>
        </p:spPr>
      </p:pic>
      <p:pic>
        <p:nvPicPr>
          <p:cNvPr id="7" name="Immagine 6" descr="Immagine che contiene schizzo, disegn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14F113C-2975-37C6-F356-6B492F6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50" y="2789121"/>
            <a:ext cx="794791" cy="79479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17C02DF-D677-32FC-1F4B-5E7EBCBD64B7}"/>
              </a:ext>
            </a:extLst>
          </p:cNvPr>
          <p:cNvSpPr txBox="1"/>
          <p:nvPr/>
        </p:nvSpPr>
        <p:spPr>
          <a:xfrm>
            <a:off x="2090409" y="3049171"/>
            <a:ext cx="3703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JAVA e ANDROID STUDIO per l’app Mobile</a:t>
            </a:r>
          </a:p>
        </p:txBody>
      </p:sp>
      <p:pic>
        <p:nvPicPr>
          <p:cNvPr id="10" name="Immagine 9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08777605-3F92-4ACB-2B12-4B3814A5A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59" y="1335896"/>
            <a:ext cx="1254160" cy="67024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91429-8423-37FD-3450-47DF7F80A402}"/>
              </a:ext>
            </a:extLst>
          </p:cNvPr>
          <p:cNvSpPr txBox="1"/>
          <p:nvPr/>
        </p:nvSpPr>
        <p:spPr>
          <a:xfrm>
            <a:off x="1895798" y="1523885"/>
            <a:ext cx="3387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FIGMA – Per </a:t>
            </a:r>
            <a:r>
              <a:rPr lang="it-IT" dirty="0" err="1"/>
              <a:t>Wireframe</a:t>
            </a:r>
            <a:r>
              <a:rPr lang="it-IT" dirty="0"/>
              <a:t> e progettazione</a:t>
            </a:r>
          </a:p>
        </p:txBody>
      </p:sp>
      <p:pic>
        <p:nvPicPr>
          <p:cNvPr id="13" name="Immagine 12" descr="Immagine che contiene Carattere, logo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41F7A41D-D20F-4C9E-D636-2D61DA9F0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950" y="1960203"/>
            <a:ext cx="1449598" cy="785199"/>
          </a:xfrm>
          <a:prstGeom prst="rect">
            <a:avLst/>
          </a:prstGeom>
        </p:spPr>
      </p:pic>
      <p:pic>
        <p:nvPicPr>
          <p:cNvPr id="15" name="Immagine 14" descr="Immagine che contiene forchetta, simbolo, Utensile da cucina&#10;&#10;Il contenuto generato dall'IA potrebbe non essere corretto.">
            <a:extLst>
              <a:ext uri="{FF2B5EF4-FFF2-40B4-BE49-F238E27FC236}">
                <a16:creationId xmlns:a16="http://schemas.microsoft.com/office/drawing/2014/main" id="{825C8E7F-9F4E-FAA0-6251-14215AB6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1358" y="1871417"/>
            <a:ext cx="767697" cy="76769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34FAEF-37E3-1CB9-0ECB-947D6A85BADB}"/>
              </a:ext>
            </a:extLst>
          </p:cNvPr>
          <p:cNvSpPr txBox="1"/>
          <p:nvPr/>
        </p:nvSpPr>
        <p:spPr>
          <a:xfrm>
            <a:off x="2767653" y="2145097"/>
            <a:ext cx="3826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GITHUB e FORK per il repository del progetto</a:t>
            </a:r>
          </a:p>
        </p:txBody>
      </p:sp>
      <p:pic>
        <p:nvPicPr>
          <p:cNvPr id="18" name="Immagine 17" descr="Immagine che contiene simbolo, log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E22610F-D712-2BC7-60D2-EE4A6C94C6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991" y="3608499"/>
            <a:ext cx="794791" cy="838341"/>
          </a:xfrm>
          <a:prstGeom prst="rect">
            <a:avLst/>
          </a:prstGeom>
        </p:spPr>
      </p:pic>
      <p:pic>
        <p:nvPicPr>
          <p:cNvPr id="20" name="Immagine 19" descr="Immagine che contiene schizzo, disegn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63F81E6E-BF62-0BE4-E571-DA846A9C0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8066" y="3615501"/>
            <a:ext cx="910507" cy="877196"/>
          </a:xfrm>
          <a:prstGeom prst="rect">
            <a:avLst/>
          </a:prstGeom>
        </p:spPr>
      </p:pic>
      <p:pic>
        <p:nvPicPr>
          <p:cNvPr id="22" name="Immagine 21" descr="Immagine che contiene simbolo, clipart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69704F02-6DF0-1973-9ACD-DB6714A40B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0" y="3670251"/>
            <a:ext cx="819825" cy="76769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C9B3F7C-E1B7-421E-1A4B-FB001D0DC358}"/>
              </a:ext>
            </a:extLst>
          </p:cNvPr>
          <p:cNvSpPr txBox="1"/>
          <p:nvPr/>
        </p:nvSpPr>
        <p:spPr>
          <a:xfrm>
            <a:off x="3189246" y="3803848"/>
            <a:ext cx="3826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PYTHON, VISUAL STUDIO CODE e FLASK per il </a:t>
            </a:r>
            <a:r>
              <a:rPr lang="it-IT" dirty="0" err="1"/>
              <a:t>backend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1372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6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00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28991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2708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986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5331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9002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3124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2344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1095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36779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3726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Calendario utente per salvare eventi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A74FC-2392-6C82-B228-D989AD37A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: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7B37D-25B2-0066-AB5D-E47A9FFD9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FLASK: Framework per gestire le API, ossia quello strumento che permette l’interazione tra </a:t>
            </a:r>
            <a:r>
              <a:rPr lang="it-IT" dirty="0" err="1"/>
              <a:t>frontend</a:t>
            </a:r>
            <a:r>
              <a:rPr lang="it-IT" dirty="0"/>
              <a:t> (Sito WEB o APP) e </a:t>
            </a:r>
            <a:r>
              <a:rPr lang="it-IT" dirty="0" err="1"/>
              <a:t>backend</a:t>
            </a:r>
            <a:r>
              <a:rPr lang="it-IT" dirty="0"/>
              <a:t>, ossia l’interfaccia utente e la logica di programmazione, nonché le interazioni con il DB.</a:t>
            </a:r>
          </a:p>
          <a:p>
            <a:pPr marL="114300" indent="0">
              <a:buNone/>
            </a:pPr>
            <a:r>
              <a:rPr lang="it-IT" dirty="0"/>
              <a:t>Come linguaggio di programmazione per le API </a:t>
            </a:r>
            <a:r>
              <a:rPr lang="it-IT" dirty="0" err="1"/>
              <a:t>Flask</a:t>
            </a:r>
            <a:r>
              <a:rPr lang="it-IT" dirty="0"/>
              <a:t> viene </a:t>
            </a:r>
            <a:r>
              <a:rPr lang="it-IT" dirty="0" err="1"/>
              <a:t>uttilizzato</a:t>
            </a:r>
            <a:r>
              <a:rPr lang="it-IT" dirty="0"/>
              <a:t> PYTHON.</a:t>
            </a:r>
          </a:p>
          <a:p>
            <a:pPr marL="114300" indent="0">
              <a:buNone/>
            </a:pPr>
            <a:r>
              <a:rPr lang="it-IT" dirty="0"/>
              <a:t>Come ambiente di sviluppo invece VISUAL STUDIO CODE.</a:t>
            </a:r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DataBase</a:t>
            </a:r>
            <a:r>
              <a:rPr lang="it-IT" dirty="0"/>
              <a:t> si è scelto un tipo di DB relazionale, MYSQL, e come ambiente di sviluppo del DB è stato utilizzato WORKBENCH.</a:t>
            </a:r>
          </a:p>
        </p:txBody>
      </p:sp>
    </p:spTree>
    <p:extLst>
      <p:ext uri="{BB962C8B-B14F-4D97-AF65-F5344CB8AC3E}">
        <p14:creationId xmlns:p14="http://schemas.microsoft.com/office/powerpoint/2010/main" val="3964257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D9EF37-8F27-BC8E-AAF6-3229445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FrontEnd</a:t>
            </a:r>
            <a:r>
              <a:rPr lang="it-IT" dirty="0"/>
              <a:t>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95D409D-E62D-C19E-4EB3-D40E09268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dell’App Mobile, si utilizza Android, come linguaggio di programmazione JAVA (e XML come linguaggio di scripting per i layout grafici), e come IDE ANDROID STUDIO.</a:t>
            </a:r>
          </a:p>
          <a:p>
            <a:pPr marL="114300" indent="0">
              <a:buNone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 sito Web si utilizzano HTML per la struttura e CSS per lo stile grafico.</a:t>
            </a:r>
          </a:p>
        </p:txBody>
      </p:sp>
    </p:spTree>
    <p:extLst>
      <p:ext uri="{BB962C8B-B14F-4D97-AF65-F5344CB8AC3E}">
        <p14:creationId xmlns:p14="http://schemas.microsoft.com/office/powerpoint/2010/main" val="2983094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09BA0-8EEF-C875-3258-62B10C48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382350"/>
            <a:ext cx="4045200" cy="699543"/>
          </a:xfrm>
        </p:spPr>
        <p:txBody>
          <a:bodyPr/>
          <a:lstStyle/>
          <a:p>
            <a:r>
              <a:rPr lang="it-IT" dirty="0"/>
              <a:t>Schermate App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8CDC97-0B7A-1406-1CE0-421668C22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15858"/>
            <a:ext cx="4045200" cy="3027642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Home</a:t>
            </a:r>
            <a:r>
              <a:rPr lang="it-IT" dirty="0"/>
              <a:t>: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 lista con tutti i nostri animali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  - possibilità di registrarne di nuovi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- lista di attività registrate di oggi 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it-IT" sz="1800" kern="100" dirty="0"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</a:t>
            </a: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- bottone per cercare servizi nell’area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AD73E6A9-D057-7B2B-3A8B-8EB6C237A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56" y="812703"/>
            <a:ext cx="1986687" cy="351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3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926161D-599C-A7B6-3E6D-E02FBD6A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1307592"/>
            <a:ext cx="4045200" cy="2807207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Profilo Animale:</a:t>
            </a:r>
          </a:p>
          <a:p>
            <a:r>
              <a:rPr lang="it-IT" dirty="0"/>
              <a:t>Riepilogo Info Animale</a:t>
            </a:r>
          </a:p>
          <a:p>
            <a:r>
              <a:rPr lang="it-IT" dirty="0"/>
              <a:t>Accesso a modifica delle info</a:t>
            </a:r>
          </a:p>
          <a:p>
            <a:r>
              <a:rPr lang="it-IT" dirty="0"/>
              <a:t>Accesso cartella clinica</a:t>
            </a:r>
          </a:p>
          <a:p>
            <a:r>
              <a:rPr lang="it-IT" dirty="0"/>
              <a:t>Inserimento rating emotivo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941C5F-0264-87FF-F0D4-9C684704F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25" y="603181"/>
            <a:ext cx="2176731" cy="3659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EC3D98B-6209-4992-EBC1-F1519CFA91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9" y="1552522"/>
            <a:ext cx="4045200" cy="2866778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Cartella Clinica: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Tasto per inserire nuovi dati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Finestra di dialogo per inserimento e salvataggio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Lista dove vengono visualizzati i dati 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Possibilità di eliminare singola voce</a:t>
            </a:r>
          </a:p>
        </p:txBody>
      </p:sp>
      <p:pic>
        <p:nvPicPr>
          <p:cNvPr id="8" name="Immagine 7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8F2F0E1C-DCAC-E145-8798-37789B6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268" y="885075"/>
            <a:ext cx="1852417" cy="3373349"/>
          </a:xfrm>
          <a:prstGeom prst="rect">
            <a:avLst/>
          </a:prstGeom>
        </p:spPr>
      </p:pic>
      <p:pic>
        <p:nvPicPr>
          <p:cNvPr id="10" name="Immagine 9" descr="Immagine che contiene schermata,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1AA41953-505A-73C6-6E1E-B7BE4EEC3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76" y="2077814"/>
            <a:ext cx="1854295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86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83FB08-460E-B52F-C940-FFEC72A82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226249"/>
            <a:ext cx="4045200" cy="304367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Calendario:</a:t>
            </a:r>
          </a:p>
          <a:p>
            <a:r>
              <a:rPr lang="it-IT" dirty="0"/>
              <a:t>-Selezione di un giorno con apertura </a:t>
            </a:r>
            <a:r>
              <a:rPr lang="it-IT" dirty="0" err="1"/>
              <a:t>dialog</a:t>
            </a:r>
            <a:r>
              <a:rPr lang="it-IT" dirty="0"/>
              <a:t> per aggiungere evento</a:t>
            </a:r>
          </a:p>
          <a:p>
            <a:r>
              <a:rPr lang="it-IT" dirty="0"/>
              <a:t>-Con la pressione prolungata del giorno visualizza lista eventi con icona per rimozione</a:t>
            </a:r>
          </a:p>
        </p:txBody>
      </p:sp>
      <p:pic>
        <p:nvPicPr>
          <p:cNvPr id="6" name="Immagine 5" descr="Immagine che contiene testo, schermata, Sistema operativo, software&#10;&#10;Il contenuto generato dall'IA potrebbe non essere corretto.">
            <a:extLst>
              <a:ext uri="{FF2B5EF4-FFF2-40B4-BE49-F238E27FC236}">
                <a16:creationId xmlns:a16="http://schemas.microsoft.com/office/drawing/2014/main" id="{C967C7ED-0BFC-3B58-BFD8-8A8700C1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410" y="494095"/>
            <a:ext cx="1868320" cy="4155310"/>
          </a:xfrm>
          <a:prstGeom prst="rect">
            <a:avLst/>
          </a:prstGeom>
        </p:spPr>
      </p:pic>
      <p:pic>
        <p:nvPicPr>
          <p:cNvPr id="8" name="Immagine 7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AED0D5E-9647-D25D-ABC8-3D4767F4C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85" y="1104825"/>
            <a:ext cx="1968601" cy="1466925"/>
          </a:xfrm>
          <a:prstGeom prst="rect">
            <a:avLst/>
          </a:prstGeom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6F3A8D-F5A4-EAD1-6C8E-C212F348B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585" y="2861089"/>
            <a:ext cx="1968601" cy="151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8F8C9A6-B4FB-88FB-F809-3F6F0716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350" y="1821289"/>
            <a:ext cx="4045200" cy="150092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Animale:</a:t>
            </a:r>
          </a:p>
          <a:p>
            <a:r>
              <a:rPr lang="it-IT" dirty="0"/>
              <a:t>-Campi Nome, Altezza, Peso, Sesso, Descrizione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CC92AFB8-57C0-38BB-AFBD-B840D389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361" y="310858"/>
            <a:ext cx="2000130" cy="45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0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B8EB369-F853-45C9-1940-5B5E18E52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8" y="1805616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Utente:</a:t>
            </a:r>
          </a:p>
          <a:p>
            <a:r>
              <a:rPr lang="it-IT" dirty="0"/>
              <a:t>-Campi da compilare: Nome, Cognome, Telefono, Email, Indirizzo, Password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1CAAC37-8841-E27A-5D15-D6858193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92" y="272014"/>
            <a:ext cx="2013853" cy="4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2D28D-EE75-A61C-A287-48DDD4624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 API: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3421EB6-7FA7-C1EC-BF77-1407BC619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71600"/>
            <a:ext cx="8611864" cy="477586"/>
          </a:xfrm>
        </p:spPr>
        <p:txBody>
          <a:bodyPr/>
          <a:lstStyle/>
          <a:p>
            <a:pPr marL="114300" indent="0">
              <a:buNone/>
            </a:pPr>
            <a:r>
              <a:rPr lang="it-IT" dirty="0"/>
              <a:t>Esempio di chiamata API per login utente:</a:t>
            </a:r>
          </a:p>
          <a:p>
            <a:pPr marL="114300" indent="0">
              <a:buNone/>
            </a:pPr>
            <a:endParaRPr lang="it-IT" dirty="0"/>
          </a:p>
        </p:txBody>
      </p:sp>
      <p:pic>
        <p:nvPicPr>
          <p:cNvPr id="5" name="Immagine 4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C87F5838-F357-6E8D-FED6-7151B6760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72" y="1620635"/>
            <a:ext cx="3785810" cy="84229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0E82A1-BB3C-27F5-0B41-9C7C53CF5534}"/>
              </a:ext>
            </a:extLst>
          </p:cNvPr>
          <p:cNvSpPr txBox="1"/>
          <p:nvPr/>
        </p:nvSpPr>
        <p:spPr>
          <a:xfrm>
            <a:off x="4377199" y="1718617"/>
            <a:ext cx="464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 dati inseriti dall’utente vengono salvati in due stringhe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92FD4A-42E4-C59C-1B30-E5515810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73" y="2571750"/>
            <a:ext cx="3785810" cy="411108"/>
          </a:xfrm>
          <a:prstGeom prst="rect">
            <a:avLst/>
          </a:prstGeom>
        </p:spPr>
      </p:pic>
      <p:pic>
        <p:nvPicPr>
          <p:cNvPr id="10" name="Immagine 9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F13FEA4-2CA5-34F7-CBA4-0427FA5B7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2" y="3219421"/>
            <a:ext cx="3791145" cy="110495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32613A-C738-E41B-6245-706BA40D5BB1}"/>
              </a:ext>
            </a:extLst>
          </p:cNvPr>
          <p:cNvSpPr txBox="1"/>
          <p:nvPr/>
        </p:nvSpPr>
        <p:spPr>
          <a:xfrm>
            <a:off x="4377199" y="2399663"/>
            <a:ext cx="47096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Attraverso una classe chiamata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APIService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, i dati vengono inviati in formato JSON a un endpoint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D92E78-E262-6FB0-37C5-0FA314D8D0FD}"/>
              </a:ext>
            </a:extLst>
          </p:cNvPr>
          <p:cNvSpPr txBox="1"/>
          <p:nvPr/>
        </p:nvSpPr>
        <p:spPr>
          <a:xfrm>
            <a:off x="4351564" y="33577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l’endpoint di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Flask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prende i dati e con essi genera una richiesta(query) al server. Se un utente corrisponde alle credenziali, l’esito della richiesta sarà positivo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8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577</Words>
  <Application>Microsoft Office PowerPoint</Application>
  <PresentationFormat>Presentazione su schermo (16:9)</PresentationFormat>
  <Paragraphs>90</Paragraphs>
  <Slides>19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4" baseType="lpstr">
      <vt:lpstr>Aptos</vt:lpstr>
      <vt:lpstr>Amasis MT Pro</vt:lpstr>
      <vt:lpstr>Old Standard TT</vt:lpstr>
      <vt:lpstr>Arial</vt:lpstr>
      <vt:lpstr>Paperback</vt:lpstr>
      <vt:lpstr>Presentazione dello sviluppo di «Crickle»</vt:lpstr>
      <vt:lpstr>Il progetto</vt:lpstr>
      <vt:lpstr>CRIKLE – L’APP PER GESTIRE IL TUO PET</vt:lpstr>
      <vt:lpstr>CRIKLE – PORTALE WEB</vt:lpstr>
      <vt:lpstr>LA STRUTTURA DEL PROGETTO</vt:lpstr>
      <vt:lpstr>SCHEMA ER</vt:lpstr>
      <vt:lpstr>STRUMENTI UTILIZZATI</vt:lpstr>
      <vt:lpstr>I programmi </vt:lpstr>
      <vt:lpstr>WIREFRAME DELL’APP</vt:lpstr>
      <vt:lpstr>L’APP</vt:lpstr>
      <vt:lpstr>Backend: </vt:lpstr>
      <vt:lpstr>FrontEnd:</vt:lpstr>
      <vt:lpstr>Schermate App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Backend API: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Federica Panceri</cp:lastModifiedBy>
  <cp:revision>3</cp:revision>
  <dcterms:modified xsi:type="dcterms:W3CDTF">2025-04-10T16:26:59Z</dcterms:modified>
</cp:coreProperties>
</file>