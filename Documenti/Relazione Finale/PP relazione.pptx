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25"/>
  </p:notesMasterIdLst>
  <p:sldIdLst>
    <p:sldId id="256" r:id="rId2"/>
    <p:sldId id="257" r:id="rId3"/>
    <p:sldId id="263" r:id="rId4"/>
    <p:sldId id="264" r:id="rId5"/>
    <p:sldId id="259" r:id="rId6"/>
    <p:sldId id="266" r:id="rId7"/>
    <p:sldId id="268" r:id="rId8"/>
    <p:sldId id="262" r:id="rId9"/>
    <p:sldId id="265" r:id="rId10"/>
    <p:sldId id="260" r:id="rId11"/>
    <p:sldId id="279" r:id="rId12"/>
    <p:sldId id="280" r:id="rId13"/>
    <p:sldId id="267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7" r:id="rId22"/>
    <p:sldId id="278" r:id="rId23"/>
    <p:sldId id="276" r:id="rId24"/>
  </p:sldIdLst>
  <p:sldSz cx="9144000" cy="5143500" type="screen16x9"/>
  <p:notesSz cx="6858000" cy="9144000"/>
  <p:embeddedFontLst>
    <p:embeddedFont>
      <p:font typeface="Amasis MT Pro" panose="02040504050005020304" pitchFamily="18" charset="0"/>
      <p:regular r:id="rId26"/>
      <p:bold r:id="rId27"/>
      <p:italic r:id="rId28"/>
      <p:boldItalic r:id="rId29"/>
    </p:embeddedFont>
    <p:embeddedFont>
      <p:font typeface="Old Standard TT" panose="020B0604020202020204" charset="0"/>
      <p:regular r:id="rId30"/>
      <p:bold r:id="rId31"/>
      <p:italic r:id="rId32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940" y="52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1.fntdata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4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font" Target="fonts/font7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font" Target="fonts/font3.fntdata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6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font" Target="fonts/font2.fntdata"/><Relationship Id="rId30" Type="http://schemas.openxmlformats.org/officeDocument/2006/relationships/font" Target="fonts/font5.fntdata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gc6f90357f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" name="Google Shape;57;gc6f90357f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gc6f90357f_0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188" y="685800"/>
            <a:ext cx="6096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" name="Google Shape;63;gc6f90357f_0_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gc6f90357f_0_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188" y="685800"/>
            <a:ext cx="6096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" name="Google Shape;76;gc6f90357f_0_2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6">
          <a:extLst>
            <a:ext uri="{FF2B5EF4-FFF2-40B4-BE49-F238E27FC236}">
              <a16:creationId xmlns:a16="http://schemas.microsoft.com/office/drawing/2014/main" id="{CCD48EFE-9E28-FB06-9F5C-ADA7602BB7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gc6f90357f_0_13:notes">
            <a:extLst>
              <a:ext uri="{FF2B5EF4-FFF2-40B4-BE49-F238E27FC236}">
                <a16:creationId xmlns:a16="http://schemas.microsoft.com/office/drawing/2014/main" id="{0EF63471-D14F-3792-83F6-3285A1460A8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8" name="Google Shape;68;gc6f90357f_0_13:notes">
            <a:extLst>
              <a:ext uri="{FF2B5EF4-FFF2-40B4-BE49-F238E27FC236}">
                <a16:creationId xmlns:a16="http://schemas.microsoft.com/office/drawing/2014/main" id="{604486BE-0471-8742-5357-5CB5BCD50AA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4589969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c6f90357f_0_3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c6f90357f_0_3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410341808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bg>
      <p:bgPr>
        <a:solidFill>
          <a:schemeClr val="dk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0" y="100"/>
            <a:ext cx="9144000" cy="1711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11" name="Google Shape;11;p2"/>
          <p:cNvCxnSpPr/>
          <p:nvPr/>
        </p:nvCxnSpPr>
        <p:spPr>
          <a:xfrm>
            <a:off x="641934" y="3597500"/>
            <a:ext cx="3903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2" name="Google Shape;12;p2"/>
          <p:cNvSpPr txBox="1">
            <a:spLocks noGrp="1"/>
          </p:cNvSpPr>
          <p:nvPr>
            <p:ph type="ctrTitle"/>
          </p:nvPr>
        </p:nvSpPr>
        <p:spPr>
          <a:xfrm>
            <a:off x="512700" y="1893300"/>
            <a:ext cx="8118600" cy="1522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None/>
              <a:defRPr sz="4200"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None/>
              <a:defRPr sz="4200">
                <a:solidFill>
                  <a:schemeClr val="accen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None/>
              <a:defRPr sz="4200">
                <a:solidFill>
                  <a:schemeClr val="accen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None/>
              <a:defRPr sz="4200">
                <a:solidFill>
                  <a:schemeClr val="accen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None/>
              <a:defRPr sz="4200">
                <a:solidFill>
                  <a:schemeClr val="accen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None/>
              <a:defRPr sz="4200">
                <a:solidFill>
                  <a:schemeClr val="accen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None/>
              <a:defRPr sz="4200">
                <a:solidFill>
                  <a:schemeClr val="accen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None/>
              <a:defRPr sz="4200">
                <a:solidFill>
                  <a:schemeClr val="accen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None/>
              <a:defRPr sz="4200">
                <a:solidFill>
                  <a:schemeClr val="accent1"/>
                </a:solidFill>
              </a:defRPr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subTitle" idx="1"/>
          </p:nvPr>
        </p:nvSpPr>
        <p:spPr>
          <a:xfrm>
            <a:off x="512700" y="3840639"/>
            <a:ext cx="8118600" cy="787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 sz="2400">
                <a:solidFill>
                  <a:schemeClr val="accent2"/>
                </a:solidFill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 sz="2400">
                <a:solidFill>
                  <a:schemeClr val="accent2"/>
                </a:solidFill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 sz="2400">
                <a:solidFill>
                  <a:schemeClr val="accent2"/>
                </a:solidFill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 sz="2400">
                <a:solidFill>
                  <a:schemeClr val="accent2"/>
                </a:solidFill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 sz="2400">
                <a:solidFill>
                  <a:schemeClr val="accent2"/>
                </a:solidFill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 sz="2400">
                <a:solidFill>
                  <a:schemeClr val="accent2"/>
                </a:solidFill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 sz="2400">
                <a:solidFill>
                  <a:schemeClr val="accent2"/>
                </a:solidFill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 sz="2400">
                <a:solidFill>
                  <a:schemeClr val="accent2"/>
                </a:solidFill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 sz="2400"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>
                <a:solidFill>
                  <a:schemeClr val="accent1"/>
                </a:solidFill>
              </a:defRPr>
            </a:lvl1pPr>
            <a:lvl2pPr lvl="1">
              <a:buNone/>
              <a:defRPr>
                <a:solidFill>
                  <a:schemeClr val="accent1"/>
                </a:solidFill>
              </a:defRPr>
            </a:lvl2pPr>
            <a:lvl3pPr lvl="2">
              <a:buNone/>
              <a:defRPr>
                <a:solidFill>
                  <a:schemeClr val="accent1"/>
                </a:solidFill>
              </a:defRPr>
            </a:lvl3pPr>
            <a:lvl4pPr lvl="3">
              <a:buNone/>
              <a:defRPr>
                <a:solidFill>
                  <a:schemeClr val="accent1"/>
                </a:solidFill>
              </a:defRPr>
            </a:lvl4pPr>
            <a:lvl5pPr lvl="4">
              <a:buNone/>
              <a:defRPr>
                <a:solidFill>
                  <a:schemeClr val="accent1"/>
                </a:solidFill>
              </a:defRPr>
            </a:lvl5pPr>
            <a:lvl6pPr lvl="5">
              <a:buNone/>
              <a:defRPr>
                <a:solidFill>
                  <a:schemeClr val="accent1"/>
                </a:solidFill>
              </a:defRPr>
            </a:lvl6pPr>
            <a:lvl7pPr lvl="6">
              <a:buNone/>
              <a:defRPr>
                <a:solidFill>
                  <a:schemeClr val="accent1"/>
                </a:solidFill>
              </a:defRPr>
            </a:lvl7pPr>
            <a:lvl8pPr lvl="7">
              <a:buNone/>
              <a:defRPr>
                <a:solidFill>
                  <a:schemeClr val="accent1"/>
                </a:solidFill>
              </a:defRPr>
            </a:lvl8pPr>
            <a:lvl9pPr lvl="8">
              <a:buNone/>
              <a:defRPr>
                <a:solidFill>
                  <a:schemeClr val="accen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bg>
      <p:bgPr>
        <a:solidFill>
          <a:schemeClr val="dk1"/>
        </a:solidFill>
        <a:effectLst/>
      </p:bgPr>
    </p:bg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6" name="Google Shape;16;p3"/>
          <p:cNvCxnSpPr/>
          <p:nvPr/>
        </p:nvCxnSpPr>
        <p:spPr>
          <a:xfrm>
            <a:off x="641934" y="3597500"/>
            <a:ext cx="390300" cy="0"/>
          </a:xfrm>
          <a:prstGeom prst="straightConnector1">
            <a:avLst/>
          </a:prstGeom>
          <a:noFill/>
          <a:ln w="2857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7" name="Google Shape;17;p3"/>
          <p:cNvSpPr txBox="1">
            <a:spLocks noGrp="1"/>
          </p:cNvSpPr>
          <p:nvPr>
            <p:ph type="title"/>
          </p:nvPr>
        </p:nvSpPr>
        <p:spPr>
          <a:xfrm>
            <a:off x="512700" y="1893300"/>
            <a:ext cx="8118600" cy="1522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None/>
              <a:defRPr sz="6000"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None/>
              <a:defRPr sz="6000">
                <a:solidFill>
                  <a:schemeClr val="accen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None/>
              <a:defRPr sz="6000">
                <a:solidFill>
                  <a:schemeClr val="accen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None/>
              <a:defRPr sz="6000">
                <a:solidFill>
                  <a:schemeClr val="accen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None/>
              <a:defRPr sz="6000">
                <a:solidFill>
                  <a:schemeClr val="accen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None/>
              <a:defRPr sz="6000">
                <a:solidFill>
                  <a:schemeClr val="accen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None/>
              <a:defRPr sz="6000">
                <a:solidFill>
                  <a:schemeClr val="accen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None/>
              <a:defRPr sz="6000">
                <a:solidFill>
                  <a:schemeClr val="accen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None/>
              <a:defRPr sz="6000">
                <a:solidFill>
                  <a:schemeClr val="accent1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>
                <a:solidFill>
                  <a:schemeClr val="accent1"/>
                </a:solidFill>
              </a:defRPr>
            </a:lvl1pPr>
            <a:lvl2pPr lvl="1">
              <a:buNone/>
              <a:defRPr>
                <a:solidFill>
                  <a:schemeClr val="accent1"/>
                </a:solidFill>
              </a:defRPr>
            </a:lvl2pPr>
            <a:lvl3pPr lvl="2">
              <a:buNone/>
              <a:defRPr>
                <a:solidFill>
                  <a:schemeClr val="accent1"/>
                </a:solidFill>
              </a:defRPr>
            </a:lvl3pPr>
            <a:lvl4pPr lvl="3">
              <a:buNone/>
              <a:defRPr>
                <a:solidFill>
                  <a:schemeClr val="accent1"/>
                </a:solidFill>
              </a:defRPr>
            </a:lvl4pPr>
            <a:lvl5pPr lvl="4">
              <a:buNone/>
              <a:defRPr>
                <a:solidFill>
                  <a:schemeClr val="accent1"/>
                </a:solidFill>
              </a:defRPr>
            </a:lvl5pPr>
            <a:lvl6pPr lvl="5">
              <a:buNone/>
              <a:defRPr>
                <a:solidFill>
                  <a:schemeClr val="accent1"/>
                </a:solidFill>
              </a:defRPr>
            </a:lvl6pPr>
            <a:lvl7pPr lvl="6">
              <a:buNone/>
              <a:defRPr>
                <a:solidFill>
                  <a:schemeClr val="accent1"/>
                </a:solidFill>
              </a:defRPr>
            </a:lvl7pPr>
            <a:lvl8pPr lvl="7">
              <a:buNone/>
              <a:defRPr>
                <a:solidFill>
                  <a:schemeClr val="accent1"/>
                </a:solidFill>
              </a:defRPr>
            </a:lvl8pPr>
            <a:lvl9pPr lvl="8">
              <a:buNone/>
              <a:defRPr>
                <a:solidFill>
                  <a:schemeClr val="accen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4"/>
          <p:cNvSpPr/>
          <p:nvPr/>
        </p:nvSpPr>
        <p:spPr>
          <a:xfrm>
            <a:off x="0" y="5045700"/>
            <a:ext cx="9144000" cy="9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" name="Google Shape;21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61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4"/>
          <p:cNvSpPr txBox="1">
            <a:spLocks noGrp="1"/>
          </p:cNvSpPr>
          <p:nvPr>
            <p:ph type="body" idx="1"/>
          </p:nvPr>
        </p:nvSpPr>
        <p:spPr>
          <a:xfrm>
            <a:off x="311700" y="1171600"/>
            <a:ext cx="8520600" cy="3397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61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5"/>
          <p:cNvSpPr txBox="1">
            <a:spLocks noGrp="1"/>
          </p:cNvSpPr>
          <p:nvPr>
            <p:ph type="body" idx="1"/>
          </p:nvPr>
        </p:nvSpPr>
        <p:spPr>
          <a:xfrm>
            <a:off x="311700" y="1171675"/>
            <a:ext cx="3999900" cy="3397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7" name="Google Shape;27;p5"/>
          <p:cNvSpPr txBox="1">
            <a:spLocks noGrp="1"/>
          </p:cNvSpPr>
          <p:nvPr>
            <p:ph type="body" idx="2"/>
          </p:nvPr>
        </p:nvSpPr>
        <p:spPr>
          <a:xfrm>
            <a:off x="4832400" y="1171675"/>
            <a:ext cx="3999900" cy="3397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8" name="Google Shape;28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61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4" name="Google Shape;34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5" name="Google Shape;35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bg>
      <p:bgPr>
        <a:solidFill>
          <a:schemeClr val="lt2"/>
        </a:solidFill>
        <a:effectLst/>
      </p:bgPr>
    </p:bg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8"/>
          <p:cNvSpPr txBox="1">
            <a:spLocks noGrp="1"/>
          </p:cNvSpPr>
          <p:nvPr>
            <p:ph type="title"/>
          </p:nvPr>
        </p:nvSpPr>
        <p:spPr>
          <a:xfrm>
            <a:off x="490250" y="526350"/>
            <a:ext cx="56040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400"/>
              <a:buNone/>
              <a:defRPr sz="5400"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400"/>
              <a:buNone/>
              <a:defRPr sz="5400">
                <a:solidFill>
                  <a:schemeClr val="accen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400"/>
              <a:buNone/>
              <a:defRPr sz="5400">
                <a:solidFill>
                  <a:schemeClr val="accen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400"/>
              <a:buNone/>
              <a:defRPr sz="5400">
                <a:solidFill>
                  <a:schemeClr val="accen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400"/>
              <a:buNone/>
              <a:defRPr sz="5400">
                <a:solidFill>
                  <a:schemeClr val="accen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400"/>
              <a:buNone/>
              <a:defRPr sz="5400">
                <a:solidFill>
                  <a:schemeClr val="accen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400"/>
              <a:buNone/>
              <a:defRPr sz="5400">
                <a:solidFill>
                  <a:schemeClr val="accen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400"/>
              <a:buNone/>
              <a:defRPr sz="5400">
                <a:solidFill>
                  <a:schemeClr val="accen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400"/>
              <a:buNone/>
              <a:defRPr sz="5400">
                <a:solidFill>
                  <a:schemeClr val="accent1"/>
                </a:solidFill>
              </a:defRPr>
            </a:lvl9pPr>
          </a:lstStyle>
          <a:p>
            <a:endParaRPr/>
          </a:p>
        </p:txBody>
      </p:sp>
      <p:sp>
        <p:nvSpPr>
          <p:cNvPr id="38" name="Google Shape;38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>
                <a:solidFill>
                  <a:schemeClr val="accent1"/>
                </a:solidFill>
              </a:defRPr>
            </a:lvl1pPr>
            <a:lvl2pPr lvl="1">
              <a:buNone/>
              <a:defRPr>
                <a:solidFill>
                  <a:schemeClr val="accent1"/>
                </a:solidFill>
              </a:defRPr>
            </a:lvl2pPr>
            <a:lvl3pPr lvl="2">
              <a:buNone/>
              <a:defRPr>
                <a:solidFill>
                  <a:schemeClr val="accent1"/>
                </a:solidFill>
              </a:defRPr>
            </a:lvl3pPr>
            <a:lvl4pPr lvl="3">
              <a:buNone/>
              <a:defRPr>
                <a:solidFill>
                  <a:schemeClr val="accent1"/>
                </a:solidFill>
              </a:defRPr>
            </a:lvl4pPr>
            <a:lvl5pPr lvl="4">
              <a:buNone/>
              <a:defRPr>
                <a:solidFill>
                  <a:schemeClr val="accent1"/>
                </a:solidFill>
              </a:defRPr>
            </a:lvl5pPr>
            <a:lvl6pPr lvl="5">
              <a:buNone/>
              <a:defRPr>
                <a:solidFill>
                  <a:schemeClr val="accent1"/>
                </a:solidFill>
              </a:defRPr>
            </a:lvl6pPr>
            <a:lvl7pPr lvl="6">
              <a:buNone/>
              <a:defRPr>
                <a:solidFill>
                  <a:schemeClr val="accent1"/>
                </a:solidFill>
              </a:defRPr>
            </a:lvl7pPr>
            <a:lvl8pPr lvl="7">
              <a:buNone/>
              <a:defRPr>
                <a:solidFill>
                  <a:schemeClr val="accent1"/>
                </a:solidFill>
              </a:defRPr>
            </a:lvl8pPr>
            <a:lvl9pPr lvl="8">
              <a:buNone/>
              <a:defRPr>
                <a:solidFill>
                  <a:schemeClr val="accen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9"/>
          <p:cNvSpPr/>
          <p:nvPr/>
        </p:nvSpPr>
        <p:spPr>
          <a:xfrm>
            <a:off x="4572000" y="-25"/>
            <a:ext cx="4572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41" name="Google Shape;41;p9"/>
          <p:cNvCxnSpPr/>
          <p:nvPr/>
        </p:nvCxnSpPr>
        <p:spPr>
          <a:xfrm>
            <a:off x="5029675" y="4495500"/>
            <a:ext cx="686400" cy="0"/>
          </a:xfrm>
          <a:prstGeom prst="straightConnector1">
            <a:avLst/>
          </a:prstGeom>
          <a:noFill/>
          <a:ln w="19050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2" name="Google Shape;42;p9"/>
          <p:cNvSpPr txBox="1">
            <a:spLocks noGrp="1"/>
          </p:cNvSpPr>
          <p:nvPr>
            <p:ph type="title"/>
          </p:nvPr>
        </p:nvSpPr>
        <p:spPr>
          <a:xfrm>
            <a:off x="265500" y="1382350"/>
            <a:ext cx="4045200" cy="1333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 sz="4200">
                <a:solidFill>
                  <a:schemeClr val="lt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 sz="4200">
                <a:solidFill>
                  <a:schemeClr val="lt2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 sz="4200">
                <a:solidFill>
                  <a:schemeClr val="lt2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 sz="4200">
                <a:solidFill>
                  <a:schemeClr val="lt2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 sz="4200">
                <a:solidFill>
                  <a:schemeClr val="lt2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 sz="4200">
                <a:solidFill>
                  <a:schemeClr val="lt2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 sz="4200">
                <a:solidFill>
                  <a:schemeClr val="lt2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 sz="4200">
                <a:solidFill>
                  <a:schemeClr val="lt2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 sz="4200">
                <a:solidFill>
                  <a:schemeClr val="lt2"/>
                </a:solidFill>
              </a:defRPr>
            </a:lvl9pPr>
          </a:lstStyle>
          <a:p>
            <a:endParaRPr/>
          </a:p>
        </p:txBody>
      </p:sp>
      <p:sp>
        <p:nvSpPr>
          <p:cNvPr id="43" name="Google Shape;43;p9"/>
          <p:cNvSpPr txBox="1">
            <a:spLocks noGrp="1"/>
          </p:cNvSpPr>
          <p:nvPr>
            <p:ph type="subTitle" idx="1"/>
          </p:nvPr>
        </p:nvSpPr>
        <p:spPr>
          <a:xfrm>
            <a:off x="265500" y="2769001"/>
            <a:ext cx="4045200" cy="1345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44" name="Google Shape;44;p9"/>
          <p:cNvSpPr txBox="1">
            <a:spLocks noGrp="1"/>
          </p:cNvSpPr>
          <p:nvPr>
            <p:ph type="body" idx="2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●"/>
              <a:defRPr>
                <a:solidFill>
                  <a:schemeClr val="accent1"/>
                </a:solidFill>
              </a:defRPr>
            </a:lvl1pPr>
            <a:lvl2pPr marL="914400" lvl="1" indent="-31750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○"/>
              <a:defRPr>
                <a:solidFill>
                  <a:schemeClr val="accent1"/>
                </a:solidFill>
              </a:defRPr>
            </a:lvl2pPr>
            <a:lvl3pPr marL="1371600" lvl="2" indent="-31750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■"/>
              <a:defRPr>
                <a:solidFill>
                  <a:schemeClr val="accent1"/>
                </a:solidFill>
              </a:defRPr>
            </a:lvl3pPr>
            <a:lvl4pPr marL="1828800" lvl="3" indent="-31750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●"/>
              <a:defRPr>
                <a:solidFill>
                  <a:schemeClr val="accent1"/>
                </a:solidFill>
              </a:defRPr>
            </a:lvl4pPr>
            <a:lvl5pPr marL="2286000" lvl="4" indent="-31750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○"/>
              <a:defRPr>
                <a:solidFill>
                  <a:schemeClr val="accent1"/>
                </a:solidFill>
              </a:defRPr>
            </a:lvl5pPr>
            <a:lvl6pPr marL="2743200" lvl="5" indent="-31750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■"/>
              <a:defRPr>
                <a:solidFill>
                  <a:schemeClr val="accent1"/>
                </a:solidFill>
              </a:defRPr>
            </a:lvl6pPr>
            <a:lvl7pPr marL="3200400" lvl="6" indent="-31750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●"/>
              <a:defRPr>
                <a:solidFill>
                  <a:schemeClr val="accent1"/>
                </a:solidFill>
              </a:defRPr>
            </a:lvl7pPr>
            <a:lvl8pPr marL="3657600" lvl="7" indent="-31750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○"/>
              <a:defRPr>
                <a:solidFill>
                  <a:schemeClr val="accent1"/>
                </a:solidFill>
              </a:defRPr>
            </a:lvl8pPr>
            <a:lvl9pPr marL="4114800" lvl="8" indent="-317500"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Pts val="1400"/>
              <a:buChar char="■"/>
              <a:defRPr>
                <a:solidFill>
                  <a:schemeClr val="accent1"/>
                </a:solidFill>
              </a:defRPr>
            </a:lvl9pPr>
          </a:lstStyle>
          <a:p>
            <a:endParaRPr/>
          </a:p>
        </p:txBody>
      </p:sp>
      <p:sp>
        <p:nvSpPr>
          <p:cNvPr id="45" name="Google Shape;45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>
                <a:solidFill>
                  <a:schemeClr val="accent1"/>
                </a:solidFill>
              </a:defRPr>
            </a:lvl1pPr>
            <a:lvl2pPr lvl="1">
              <a:buNone/>
              <a:defRPr>
                <a:solidFill>
                  <a:schemeClr val="accent1"/>
                </a:solidFill>
              </a:defRPr>
            </a:lvl2pPr>
            <a:lvl3pPr lvl="2">
              <a:buNone/>
              <a:defRPr>
                <a:solidFill>
                  <a:schemeClr val="accent1"/>
                </a:solidFill>
              </a:defRPr>
            </a:lvl3pPr>
            <a:lvl4pPr lvl="3">
              <a:buNone/>
              <a:defRPr>
                <a:solidFill>
                  <a:schemeClr val="accent1"/>
                </a:solidFill>
              </a:defRPr>
            </a:lvl4pPr>
            <a:lvl5pPr lvl="4">
              <a:buNone/>
              <a:defRPr>
                <a:solidFill>
                  <a:schemeClr val="accent1"/>
                </a:solidFill>
              </a:defRPr>
            </a:lvl5pPr>
            <a:lvl6pPr lvl="5">
              <a:buNone/>
              <a:defRPr>
                <a:solidFill>
                  <a:schemeClr val="accent1"/>
                </a:solidFill>
              </a:defRPr>
            </a:lvl6pPr>
            <a:lvl7pPr lvl="6">
              <a:buNone/>
              <a:defRPr>
                <a:solidFill>
                  <a:schemeClr val="accent1"/>
                </a:solidFill>
              </a:defRPr>
            </a:lvl7pPr>
            <a:lvl8pPr lvl="7">
              <a:buNone/>
              <a:defRPr>
                <a:solidFill>
                  <a:schemeClr val="accent1"/>
                </a:solidFill>
              </a:defRPr>
            </a:lvl8pPr>
            <a:lvl9pPr lvl="8">
              <a:buNone/>
              <a:defRPr>
                <a:solidFill>
                  <a:schemeClr val="accen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8" name="Google Shape;48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039650"/>
            <a:ext cx="8520600" cy="2106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0"/>
              <a:buNone/>
              <a:defRPr sz="14000" b="1"/>
            </a:lvl1pPr>
            <a:lvl2pPr lvl="1" algn="ctr">
              <a:spcBef>
                <a:spcPts val="0"/>
              </a:spcBef>
              <a:spcAft>
                <a:spcPts val="0"/>
              </a:spcAft>
              <a:buSzPts val="14000"/>
              <a:buNone/>
              <a:defRPr sz="14000" b="1"/>
            </a:lvl2pPr>
            <a:lvl3pPr lvl="2" algn="ctr">
              <a:spcBef>
                <a:spcPts val="0"/>
              </a:spcBef>
              <a:spcAft>
                <a:spcPts val="0"/>
              </a:spcAft>
              <a:buSzPts val="14000"/>
              <a:buNone/>
              <a:defRPr sz="14000" b="1"/>
            </a:lvl3pPr>
            <a:lvl4pPr lvl="3" algn="ctr">
              <a:spcBef>
                <a:spcPts val="0"/>
              </a:spcBef>
              <a:spcAft>
                <a:spcPts val="0"/>
              </a:spcAft>
              <a:buSzPts val="14000"/>
              <a:buNone/>
              <a:defRPr sz="14000" b="1"/>
            </a:lvl4pPr>
            <a:lvl5pPr lvl="4" algn="ctr">
              <a:spcBef>
                <a:spcPts val="0"/>
              </a:spcBef>
              <a:spcAft>
                <a:spcPts val="0"/>
              </a:spcAft>
              <a:buSzPts val="14000"/>
              <a:buNone/>
              <a:defRPr sz="14000" b="1"/>
            </a:lvl5pPr>
            <a:lvl6pPr lvl="5" algn="ctr">
              <a:spcBef>
                <a:spcPts val="0"/>
              </a:spcBef>
              <a:spcAft>
                <a:spcPts val="0"/>
              </a:spcAft>
              <a:buSzPts val="14000"/>
              <a:buNone/>
              <a:defRPr sz="14000" b="1"/>
            </a:lvl6pPr>
            <a:lvl7pPr lvl="6" algn="ctr">
              <a:spcBef>
                <a:spcPts val="0"/>
              </a:spcBef>
              <a:spcAft>
                <a:spcPts val="0"/>
              </a:spcAft>
              <a:buSzPts val="14000"/>
              <a:buNone/>
              <a:defRPr sz="14000" b="1"/>
            </a:lvl7pPr>
            <a:lvl8pPr lvl="7" algn="ctr">
              <a:spcBef>
                <a:spcPts val="0"/>
              </a:spcBef>
              <a:spcAft>
                <a:spcPts val="0"/>
              </a:spcAft>
              <a:buSzPts val="14000"/>
              <a:buNone/>
              <a:defRPr sz="14000" b="1"/>
            </a:lvl8pPr>
            <a:lvl9pPr lvl="8" algn="ctr">
              <a:spcBef>
                <a:spcPts val="0"/>
              </a:spcBef>
              <a:spcAft>
                <a:spcPts val="0"/>
              </a:spcAft>
              <a:buSzPts val="14000"/>
              <a:buNone/>
              <a:defRPr sz="14000" b="1"/>
            </a:lvl9pPr>
          </a:lstStyle>
          <a:p>
            <a:r>
              <a:t>xx%</a:t>
            </a:r>
          </a:p>
        </p:txBody>
      </p:sp>
      <p:sp>
        <p:nvSpPr>
          <p:cNvPr id="51" name="Google Shape;51;p11"/>
          <p:cNvSpPr txBox="1">
            <a:spLocks noGrp="1"/>
          </p:cNvSpPr>
          <p:nvPr>
            <p:ph type="body" idx="1"/>
          </p:nvPr>
        </p:nvSpPr>
        <p:spPr>
          <a:xfrm>
            <a:off x="311700" y="32284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2" name="Google Shape;52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‹N›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paperback">
    <p:bg>
      <p:bgPr>
        <a:solidFill>
          <a:schemeClr val="accen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61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ld Standard TT"/>
              <a:buNone/>
              <a:defRPr sz="3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ld Standard TT"/>
              <a:buNone/>
              <a:defRPr sz="3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ld Standard TT"/>
              <a:buNone/>
              <a:defRPr sz="3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ld Standard TT"/>
              <a:buNone/>
              <a:defRPr sz="3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ld Standard TT"/>
              <a:buNone/>
              <a:defRPr sz="3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ld Standard TT"/>
              <a:buNone/>
              <a:defRPr sz="3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ld Standard TT"/>
              <a:buNone/>
              <a:defRPr sz="3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ld Standard TT"/>
              <a:buNone/>
              <a:defRPr sz="3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ld Standard TT"/>
              <a:buNone/>
              <a:defRPr sz="3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71600"/>
            <a:ext cx="8520600" cy="339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Old Standard TT"/>
              <a:buChar char="●"/>
              <a:defRPr sz="18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1pPr>
            <a:lvl2pPr marL="914400" lvl="1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ld Standard TT"/>
              <a:buChar char="○"/>
              <a:defRPr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2pPr>
            <a:lvl3pPr marL="1371600" lvl="2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ld Standard TT"/>
              <a:buChar char="■"/>
              <a:defRPr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3pPr>
            <a:lvl4pPr marL="1828800" lvl="3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ld Standard TT"/>
              <a:buChar char="●"/>
              <a:defRPr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4pPr>
            <a:lvl5pPr marL="2286000" lvl="4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ld Standard TT"/>
              <a:buChar char="○"/>
              <a:defRPr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5pPr>
            <a:lvl6pPr marL="2743200" lvl="5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ld Standard TT"/>
              <a:buChar char="■"/>
              <a:defRPr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6pPr>
            <a:lvl7pPr marL="3200400" lvl="6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ld Standard TT"/>
              <a:buChar char="●"/>
              <a:defRPr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7pPr>
            <a:lvl8pPr marL="3657600" lvl="7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ld Standard TT"/>
              <a:buChar char="○"/>
              <a:defRPr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8pPr>
            <a:lvl9pPr marL="4114800" lvl="8" indent="-3175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400"/>
              <a:buFont typeface="Old Standard TT"/>
              <a:buChar char="■"/>
              <a:defRPr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>
              <a:buNone/>
              <a:defRPr sz="1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1pPr>
            <a:lvl2pPr lvl="1" algn="r">
              <a:buNone/>
              <a:defRPr sz="1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2pPr>
            <a:lvl3pPr lvl="2" algn="r">
              <a:buNone/>
              <a:defRPr sz="1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3pPr>
            <a:lvl4pPr lvl="3" algn="r">
              <a:buNone/>
              <a:defRPr sz="1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4pPr>
            <a:lvl5pPr lvl="4" algn="r">
              <a:buNone/>
              <a:defRPr sz="1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5pPr>
            <a:lvl6pPr lvl="5" algn="r">
              <a:buNone/>
              <a:defRPr sz="1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6pPr>
            <a:lvl7pPr lvl="6" algn="r">
              <a:buNone/>
              <a:defRPr sz="1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7pPr>
            <a:lvl8pPr lvl="7" algn="r">
              <a:buNone/>
              <a:defRPr sz="1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8pPr>
            <a:lvl9pPr lvl="8" algn="r">
              <a:buNone/>
              <a:defRPr sz="1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‹N›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jpg"/><Relationship Id="rId9" Type="http://schemas.openxmlformats.org/officeDocument/2006/relationships/image" Target="../media/image9.jp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13" Type="http://schemas.openxmlformats.org/officeDocument/2006/relationships/image" Target="../media/image21.png"/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12" Type="http://schemas.openxmlformats.org/officeDocument/2006/relationships/image" Target="../media/image20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14.png"/><Relationship Id="rId11" Type="http://schemas.openxmlformats.org/officeDocument/2006/relationships/image" Target="../media/image19.png"/><Relationship Id="rId5" Type="http://schemas.openxmlformats.org/officeDocument/2006/relationships/image" Target="../media/image13.png"/><Relationship Id="rId10" Type="http://schemas.openxmlformats.org/officeDocument/2006/relationships/image" Target="../media/image18.png"/><Relationship Id="rId4" Type="http://schemas.openxmlformats.org/officeDocument/2006/relationships/image" Target="../media/image12.png"/><Relationship Id="rId9" Type="http://schemas.openxmlformats.org/officeDocument/2006/relationships/image" Target="../media/image17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7" Type="http://schemas.openxmlformats.org/officeDocument/2006/relationships/image" Target="../media/image27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30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8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8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8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37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8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8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8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8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3"/>
          <p:cNvSpPr txBox="1">
            <a:spLocks noGrp="1"/>
          </p:cNvSpPr>
          <p:nvPr>
            <p:ph type="ctrTitle"/>
          </p:nvPr>
        </p:nvSpPr>
        <p:spPr>
          <a:xfrm>
            <a:off x="512700" y="1893300"/>
            <a:ext cx="8118600" cy="1522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dirty="0"/>
              <a:t>Presentazione dello sviluppo di «Crickle»</a:t>
            </a:r>
            <a:endParaRPr dirty="0"/>
          </a:p>
        </p:txBody>
      </p:sp>
      <p:sp>
        <p:nvSpPr>
          <p:cNvPr id="60" name="Google Shape;60;p13"/>
          <p:cNvSpPr txBox="1">
            <a:spLocks noGrp="1"/>
          </p:cNvSpPr>
          <p:nvPr>
            <p:ph type="subTitle" idx="1"/>
          </p:nvPr>
        </p:nvSpPr>
        <p:spPr>
          <a:xfrm>
            <a:off x="512700" y="3840639"/>
            <a:ext cx="8118600" cy="787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dirty="0"/>
              <a:t>Albertario, Gabello, Panceri, Tomasso</a:t>
            </a:r>
            <a:endParaRPr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14"/>
          <p:cNvSpPr txBox="1">
            <a:spLocks noGrp="1"/>
          </p:cNvSpPr>
          <p:nvPr>
            <p:ph type="title"/>
          </p:nvPr>
        </p:nvSpPr>
        <p:spPr>
          <a:xfrm>
            <a:off x="490250" y="526350"/>
            <a:ext cx="56040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/>
              <a:t>Il progetto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FE27422-26B7-28E8-E9AA-27C21C249C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CRIKLE – L’APP PER GESTIRE IL TUO PET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4E61A087-3BF6-C228-0496-FCA0DD5ADD3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14300" indent="0">
              <a:buNone/>
            </a:pPr>
            <a:r>
              <a:rPr lang="it-IT" dirty="0"/>
              <a:t>SCOPO DI APPLICAZIONE MOBILE:</a:t>
            </a:r>
          </a:p>
          <a:p>
            <a:r>
              <a:rPr lang="it-IT" dirty="0"/>
              <a:t>Registrazione Utente</a:t>
            </a:r>
          </a:p>
          <a:p>
            <a:r>
              <a:rPr lang="it-IT" dirty="0"/>
              <a:t>Registrazione animali utente</a:t>
            </a:r>
          </a:p>
          <a:p>
            <a:r>
              <a:rPr lang="it-IT" dirty="0"/>
              <a:t>Agenda delle attività da svolgere con e per il/i proprio/i animale/i</a:t>
            </a:r>
          </a:p>
          <a:p>
            <a:r>
              <a:rPr lang="it-IT" dirty="0"/>
              <a:t>Cartella Clinica per monitorare salute dell’animale</a:t>
            </a:r>
          </a:p>
          <a:p>
            <a:r>
              <a:rPr lang="it-IT" dirty="0"/>
              <a:t>Registrazione dati emotivi, per seguire l’umore del proprio animale</a:t>
            </a:r>
          </a:p>
          <a:p>
            <a:r>
              <a:rPr lang="it-IT" dirty="0"/>
              <a:t>Ricerca di servizi vari per la cura e il benessere dell’animale (da implementare in futuro)</a:t>
            </a:r>
          </a:p>
          <a:p>
            <a:r>
              <a:rPr lang="it-IT" dirty="0"/>
              <a:t>Possibilità di prenotare servizi dedicati e lasciare recensioni (prossimo sviluppo)</a:t>
            </a:r>
          </a:p>
          <a:p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83002664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DA6BFEA-FEB4-E750-F79B-118B292191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CRIKLE – PORTALE WEB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351F22DC-5A65-CBE9-E143-A08A6752C6D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14300" indent="0">
              <a:buNone/>
            </a:pPr>
            <a:r>
              <a:rPr lang="it-IT" dirty="0"/>
              <a:t>SCOPO E UTILITA’ PORTALE WEB:</a:t>
            </a:r>
          </a:p>
          <a:p>
            <a:r>
              <a:rPr lang="it-IT" dirty="0"/>
              <a:t>Registrazione Fornitore</a:t>
            </a:r>
          </a:p>
          <a:p>
            <a:r>
              <a:rPr lang="it-IT" dirty="0"/>
              <a:t>Registrazione Attività/Servizio fornito</a:t>
            </a:r>
          </a:p>
          <a:p>
            <a:r>
              <a:rPr lang="it-IT" dirty="0"/>
              <a:t>Visibilità della propria attività/servizio da parte degli utenti dell’app</a:t>
            </a:r>
          </a:p>
          <a:p>
            <a:r>
              <a:rPr lang="it-IT" dirty="0"/>
              <a:t>Gestione agenda appuntamenti (implementazione futura)</a:t>
            </a:r>
          </a:p>
          <a:p>
            <a:r>
              <a:rPr lang="it-IT" dirty="0"/>
              <a:t>Gestione prenotazioni dei clienti (implementazione futura)</a:t>
            </a:r>
          </a:p>
        </p:txBody>
      </p:sp>
    </p:spTree>
    <p:extLst>
      <p:ext uri="{BB962C8B-B14F-4D97-AF65-F5344CB8AC3E}">
        <p14:creationId xmlns:p14="http://schemas.microsoft.com/office/powerpoint/2010/main" val="296588354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6"/>
          <p:cNvSpPr txBox="1">
            <a:spLocks noGrp="1"/>
          </p:cNvSpPr>
          <p:nvPr>
            <p:ph type="title"/>
          </p:nvPr>
        </p:nvSpPr>
        <p:spPr>
          <a:xfrm>
            <a:off x="512700" y="1305300"/>
            <a:ext cx="8118600" cy="2110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/>
              <a:t>LA STRUTTURA DEL PROGETTO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5A6D474-D27D-69CB-795C-6991DFE04F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it-IT" dirty="0"/>
              <a:t>SCHEMA ER</a:t>
            </a:r>
          </a:p>
        </p:txBody>
      </p:sp>
      <p:pic>
        <p:nvPicPr>
          <p:cNvPr id="4" name="Immagine 3" descr="Immagine che contiene diagramma, linea, Policromia, design&#10;&#10;Il contenuto generato dall'IA potrebbe non essere corretto.">
            <a:extLst>
              <a:ext uri="{FF2B5EF4-FFF2-40B4-BE49-F238E27FC236}">
                <a16:creationId xmlns:a16="http://schemas.microsoft.com/office/drawing/2014/main" id="{BE05FA8C-E45B-A594-DA54-61D463F2B3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55514" y="948326"/>
            <a:ext cx="6610455" cy="39848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07107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867B37A-4E82-DB05-6CE8-A77777967F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STRUMENTI UTILIZZATI</a:t>
            </a:r>
          </a:p>
        </p:txBody>
      </p:sp>
      <p:pic>
        <p:nvPicPr>
          <p:cNvPr id="5" name="Immagine 4" descr="Immagine che contiene cartone animato, clipart, Arte bambini, arte&#10;&#10;Il contenuto generato dall'IA potrebbe non essere corretto.">
            <a:extLst>
              <a:ext uri="{FF2B5EF4-FFF2-40B4-BE49-F238E27FC236}">
                <a16:creationId xmlns:a16="http://schemas.microsoft.com/office/drawing/2014/main" id="{C938877A-CD7A-0DAB-8EFD-A25675D370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8551" y="2779581"/>
            <a:ext cx="797056" cy="794791"/>
          </a:xfrm>
          <a:prstGeom prst="rect">
            <a:avLst/>
          </a:prstGeom>
        </p:spPr>
      </p:pic>
      <p:pic>
        <p:nvPicPr>
          <p:cNvPr id="7" name="Immagine 6" descr="Immagine che contiene schizzo, disegno, clipart, design&#10;&#10;Il contenuto generato dall'IA potrebbe non essere corretto.">
            <a:extLst>
              <a:ext uri="{FF2B5EF4-FFF2-40B4-BE49-F238E27FC236}">
                <a16:creationId xmlns:a16="http://schemas.microsoft.com/office/drawing/2014/main" id="{314F113C-2975-37C6-F356-6B492F69E0D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8950" y="2789121"/>
            <a:ext cx="794791" cy="794791"/>
          </a:xfrm>
          <a:prstGeom prst="rect">
            <a:avLst/>
          </a:prstGeom>
        </p:spPr>
      </p:pic>
      <p:sp>
        <p:nvSpPr>
          <p:cNvPr id="8" name="CasellaDiTesto 7">
            <a:extLst>
              <a:ext uri="{FF2B5EF4-FFF2-40B4-BE49-F238E27FC236}">
                <a16:creationId xmlns:a16="http://schemas.microsoft.com/office/drawing/2014/main" id="{417C02DF-D677-32FC-1F4B-5E7EBCBD64B7}"/>
              </a:ext>
            </a:extLst>
          </p:cNvPr>
          <p:cNvSpPr txBox="1"/>
          <p:nvPr/>
        </p:nvSpPr>
        <p:spPr>
          <a:xfrm>
            <a:off x="2090409" y="3049171"/>
            <a:ext cx="370325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/>
              <a:t>JAVA e ANDROID STUDIO per l’app Mobile</a:t>
            </a:r>
          </a:p>
        </p:txBody>
      </p:sp>
      <p:pic>
        <p:nvPicPr>
          <p:cNvPr id="10" name="Immagine 9" descr="Immagine che contiene Carattere, Elementi grafici, logo, grafica&#10;&#10;Il contenuto generato dall'IA potrebbe non essere corretto.">
            <a:extLst>
              <a:ext uri="{FF2B5EF4-FFF2-40B4-BE49-F238E27FC236}">
                <a16:creationId xmlns:a16="http://schemas.microsoft.com/office/drawing/2014/main" id="{08777605-3F92-4ACB-2B12-4B3814A5A34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0459" y="1335896"/>
            <a:ext cx="1254160" cy="670248"/>
          </a:xfrm>
          <a:prstGeom prst="rect">
            <a:avLst/>
          </a:prstGeom>
        </p:spPr>
      </p:pic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D9E91429-8423-37FD-3450-47DF7F80A402}"/>
              </a:ext>
            </a:extLst>
          </p:cNvPr>
          <p:cNvSpPr txBox="1"/>
          <p:nvPr/>
        </p:nvSpPr>
        <p:spPr>
          <a:xfrm>
            <a:off x="1895798" y="1523885"/>
            <a:ext cx="338746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/>
              <a:t>FIGMA – Per </a:t>
            </a:r>
            <a:r>
              <a:rPr lang="it-IT" dirty="0" err="1"/>
              <a:t>Wireframe</a:t>
            </a:r>
            <a:r>
              <a:rPr lang="it-IT" dirty="0"/>
              <a:t> e progettazione</a:t>
            </a:r>
          </a:p>
        </p:txBody>
      </p:sp>
      <p:pic>
        <p:nvPicPr>
          <p:cNvPr id="13" name="Immagine 12" descr="Immagine che contiene Carattere, logo, Elementi grafici, simbolo&#10;&#10;Il contenuto generato dall'IA potrebbe non essere corretto.">
            <a:extLst>
              <a:ext uri="{FF2B5EF4-FFF2-40B4-BE49-F238E27FC236}">
                <a16:creationId xmlns:a16="http://schemas.microsoft.com/office/drawing/2014/main" id="{41F7A41D-D20F-4C9E-D636-2D61DA9F02E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8950" y="1960203"/>
            <a:ext cx="1449598" cy="785199"/>
          </a:xfrm>
          <a:prstGeom prst="rect">
            <a:avLst/>
          </a:prstGeom>
        </p:spPr>
      </p:pic>
      <p:pic>
        <p:nvPicPr>
          <p:cNvPr id="15" name="Immagine 14" descr="Immagine che contiene forchetta, simbolo, Utensile da cucina&#10;&#10;Il contenuto generato dall'IA potrebbe non essere corretto.">
            <a:extLst>
              <a:ext uri="{FF2B5EF4-FFF2-40B4-BE49-F238E27FC236}">
                <a16:creationId xmlns:a16="http://schemas.microsoft.com/office/drawing/2014/main" id="{825C8E7F-9F4E-FAA0-6251-14215AB6106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971358" y="1871417"/>
            <a:ext cx="767697" cy="767697"/>
          </a:xfrm>
          <a:prstGeom prst="rect">
            <a:avLst/>
          </a:prstGeom>
        </p:spPr>
      </p:pic>
      <p:sp>
        <p:nvSpPr>
          <p:cNvPr id="16" name="CasellaDiTesto 15">
            <a:extLst>
              <a:ext uri="{FF2B5EF4-FFF2-40B4-BE49-F238E27FC236}">
                <a16:creationId xmlns:a16="http://schemas.microsoft.com/office/drawing/2014/main" id="{6734FAEF-37E3-1CB9-0ECB-947D6A85BADB}"/>
              </a:ext>
            </a:extLst>
          </p:cNvPr>
          <p:cNvSpPr txBox="1"/>
          <p:nvPr/>
        </p:nvSpPr>
        <p:spPr>
          <a:xfrm>
            <a:off x="2767653" y="2145097"/>
            <a:ext cx="382668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/>
              <a:t>GITHUB e FORK per il repository del progetto</a:t>
            </a:r>
          </a:p>
        </p:txBody>
      </p:sp>
      <p:pic>
        <p:nvPicPr>
          <p:cNvPr id="18" name="Immagine 17" descr="Immagine che contiene simbolo, logo, Elementi grafici, Blu elettrico&#10;&#10;Il contenuto generato dall'IA potrebbe non essere corretto.">
            <a:extLst>
              <a:ext uri="{FF2B5EF4-FFF2-40B4-BE49-F238E27FC236}">
                <a16:creationId xmlns:a16="http://schemas.microsoft.com/office/drawing/2014/main" id="{3E22610F-D712-2BC7-60D2-EE4A6C94C63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40991" y="3608499"/>
            <a:ext cx="794791" cy="838341"/>
          </a:xfrm>
          <a:prstGeom prst="rect">
            <a:avLst/>
          </a:prstGeom>
        </p:spPr>
      </p:pic>
      <p:pic>
        <p:nvPicPr>
          <p:cNvPr id="20" name="Immagine 19" descr="Immagine che contiene schizzo, disegno, illustrazione&#10;&#10;Il contenuto generato dall'IA potrebbe non essere corretto.">
            <a:extLst>
              <a:ext uri="{FF2B5EF4-FFF2-40B4-BE49-F238E27FC236}">
                <a16:creationId xmlns:a16="http://schemas.microsoft.com/office/drawing/2014/main" id="{63F81E6E-BF62-0BE4-E571-DA846A9C01D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128066" y="3615501"/>
            <a:ext cx="910507" cy="877196"/>
          </a:xfrm>
          <a:prstGeom prst="rect">
            <a:avLst/>
          </a:prstGeom>
        </p:spPr>
      </p:pic>
      <p:pic>
        <p:nvPicPr>
          <p:cNvPr id="22" name="Immagine 21" descr="Immagine che contiene simbolo, clipart, Elementi grafici, design&#10;&#10;Il contenuto generato dall'IA potrebbe non essere corretto.">
            <a:extLst>
              <a:ext uri="{FF2B5EF4-FFF2-40B4-BE49-F238E27FC236}">
                <a16:creationId xmlns:a16="http://schemas.microsoft.com/office/drawing/2014/main" id="{69704F02-6DF0-1973-9ACD-DB6714A40B53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78950" y="3670251"/>
            <a:ext cx="819825" cy="767697"/>
          </a:xfrm>
          <a:prstGeom prst="rect">
            <a:avLst/>
          </a:prstGeom>
        </p:spPr>
      </p:pic>
      <p:sp>
        <p:nvSpPr>
          <p:cNvPr id="23" name="CasellaDiTesto 22">
            <a:extLst>
              <a:ext uri="{FF2B5EF4-FFF2-40B4-BE49-F238E27FC236}">
                <a16:creationId xmlns:a16="http://schemas.microsoft.com/office/drawing/2014/main" id="{8C9B3F7C-E1B7-421E-1A4B-FB001D0DC358}"/>
              </a:ext>
            </a:extLst>
          </p:cNvPr>
          <p:cNvSpPr txBox="1"/>
          <p:nvPr/>
        </p:nvSpPr>
        <p:spPr>
          <a:xfrm>
            <a:off x="3189246" y="3803848"/>
            <a:ext cx="382668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PYTHON, VISUAL STUDIO CODE e FLASK per il </a:t>
            </a:r>
            <a:r>
              <a:rPr lang="it-IT" dirty="0" err="1"/>
              <a:t>backend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7713729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5" dur="1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1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1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2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3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7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8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4" dur="1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1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6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9" dur="1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1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1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4" dur="1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1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1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9" dur="1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0" dur="1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1" grpId="0"/>
      <p:bldP spid="16" grpId="0"/>
      <p:bldP spid="23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9">
          <a:extLst>
            <a:ext uri="{FF2B5EF4-FFF2-40B4-BE49-F238E27FC236}">
              <a16:creationId xmlns:a16="http://schemas.microsoft.com/office/drawing/2014/main" id="{6C9F9AC3-6847-892B-5E11-98E8FA2E23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15">
            <a:extLst>
              <a:ext uri="{FF2B5EF4-FFF2-40B4-BE49-F238E27FC236}">
                <a16:creationId xmlns:a16="http://schemas.microsoft.com/office/drawing/2014/main" id="{152F220C-F5DC-8C74-3DC5-F7CE6C402EA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3775" y="219175"/>
            <a:ext cx="4373100" cy="133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/>
              <a:t>I programmi </a:t>
            </a:r>
            <a:endParaRPr/>
          </a:p>
        </p:txBody>
      </p:sp>
      <p:sp>
        <p:nvSpPr>
          <p:cNvPr id="71" name="Google Shape;71;p15">
            <a:extLst>
              <a:ext uri="{FF2B5EF4-FFF2-40B4-BE49-F238E27FC236}">
                <a16:creationId xmlns:a16="http://schemas.microsoft.com/office/drawing/2014/main" id="{4D712B28-C62D-192E-7260-A472937D359E}"/>
              </a:ext>
            </a:extLst>
          </p:cNvPr>
          <p:cNvSpPr txBox="1">
            <a:spLocks noGrp="1"/>
          </p:cNvSpPr>
          <p:nvPr>
            <p:ph type="body" idx="2"/>
          </p:nvPr>
        </p:nvSpPr>
        <p:spPr>
          <a:xfrm>
            <a:off x="4931700" y="13146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457200" lvl="0" indent="-387350" algn="l" rtl="0">
              <a:spcBef>
                <a:spcPts val="0"/>
              </a:spcBef>
              <a:spcAft>
                <a:spcPts val="0"/>
              </a:spcAft>
              <a:buSzPts val="2500"/>
              <a:buChar char="●"/>
            </a:pPr>
            <a:r>
              <a:rPr lang="it" sz="2500"/>
              <a:t>Java</a:t>
            </a:r>
            <a:endParaRPr sz="2500"/>
          </a:p>
          <a:p>
            <a:pPr marL="457200" lvl="0" indent="-387350" algn="l" rtl="0">
              <a:spcBef>
                <a:spcPts val="0"/>
              </a:spcBef>
              <a:spcAft>
                <a:spcPts val="0"/>
              </a:spcAft>
              <a:buSzPts val="2500"/>
              <a:buChar char="●"/>
            </a:pPr>
            <a:r>
              <a:rPr lang="it" sz="2500"/>
              <a:t>Python</a:t>
            </a:r>
            <a:endParaRPr sz="2500"/>
          </a:p>
          <a:p>
            <a:pPr marL="457200" lvl="0" indent="-387350" algn="l" rtl="0">
              <a:spcBef>
                <a:spcPts val="0"/>
              </a:spcBef>
              <a:spcAft>
                <a:spcPts val="0"/>
              </a:spcAft>
              <a:buSzPts val="2500"/>
              <a:buChar char="●"/>
            </a:pPr>
            <a:r>
              <a:rPr lang="it" sz="2500"/>
              <a:t>HTML</a:t>
            </a:r>
            <a:endParaRPr sz="2500"/>
          </a:p>
          <a:p>
            <a:pPr marL="457200" lvl="0" indent="-387350" algn="l" rtl="0">
              <a:spcBef>
                <a:spcPts val="0"/>
              </a:spcBef>
              <a:spcAft>
                <a:spcPts val="0"/>
              </a:spcAft>
              <a:buSzPts val="2500"/>
              <a:buChar char="●"/>
            </a:pPr>
            <a:r>
              <a:rPr lang="it" sz="2500"/>
              <a:t>XML</a:t>
            </a:r>
            <a:endParaRPr sz="2500"/>
          </a:p>
          <a:p>
            <a:pPr marL="457200" lvl="0" indent="-387350" algn="l" rtl="0">
              <a:spcBef>
                <a:spcPts val="0"/>
              </a:spcBef>
              <a:spcAft>
                <a:spcPts val="0"/>
              </a:spcAft>
              <a:buSzPts val="2500"/>
              <a:buChar char="●"/>
            </a:pPr>
            <a:r>
              <a:rPr lang="it" sz="2500"/>
              <a:t>CSS</a:t>
            </a:r>
            <a:endParaRPr sz="2500"/>
          </a:p>
        </p:txBody>
      </p:sp>
      <p:sp>
        <p:nvSpPr>
          <p:cNvPr id="72" name="Google Shape;72;p15">
            <a:extLst>
              <a:ext uri="{FF2B5EF4-FFF2-40B4-BE49-F238E27FC236}">
                <a16:creationId xmlns:a16="http://schemas.microsoft.com/office/drawing/2014/main" id="{19BF5DEB-A2E4-4B24-CD3D-BC930BE25F94}"/>
              </a:ext>
            </a:extLst>
          </p:cNvPr>
          <p:cNvSpPr txBox="1"/>
          <p:nvPr/>
        </p:nvSpPr>
        <p:spPr>
          <a:xfrm>
            <a:off x="442825" y="1552375"/>
            <a:ext cx="3675000" cy="302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457200" lvl="0" indent="-387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Old Standard TT"/>
              <a:buChar char="●"/>
            </a:pPr>
            <a:r>
              <a:rPr lang="it" sz="2500" dirty="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rPr>
              <a:t>VS code</a:t>
            </a:r>
            <a:endParaRPr sz="2500" dirty="0">
              <a:solidFill>
                <a:schemeClr val="dk1"/>
              </a:solidFill>
              <a:latin typeface="Old Standard TT"/>
              <a:ea typeface="Old Standard TT"/>
              <a:cs typeface="Old Standard TT"/>
              <a:sym typeface="Old Standard TT"/>
            </a:endParaRPr>
          </a:p>
          <a:p>
            <a:pPr marL="457200" lvl="0" indent="-387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Old Standard TT"/>
              <a:buChar char="●"/>
            </a:pPr>
            <a:r>
              <a:rPr lang="it" sz="2500" dirty="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rPr>
              <a:t>Android Studio</a:t>
            </a:r>
            <a:endParaRPr sz="2500" dirty="0">
              <a:solidFill>
                <a:schemeClr val="dk1"/>
              </a:solidFill>
              <a:latin typeface="Old Standard TT"/>
              <a:ea typeface="Old Standard TT"/>
              <a:cs typeface="Old Standard TT"/>
              <a:sym typeface="Old Standard TT"/>
            </a:endParaRPr>
          </a:p>
          <a:p>
            <a:pPr marL="457200" lvl="0" indent="-387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Old Standard TT"/>
              <a:buChar char="●"/>
            </a:pPr>
            <a:r>
              <a:rPr lang="it" sz="2500" dirty="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rPr>
              <a:t>MySQL Workbench</a:t>
            </a:r>
            <a:endParaRPr sz="2500" dirty="0">
              <a:solidFill>
                <a:schemeClr val="dk1"/>
              </a:solidFill>
              <a:latin typeface="Old Standard TT"/>
              <a:ea typeface="Old Standard TT"/>
              <a:cs typeface="Old Standard TT"/>
              <a:sym typeface="Old Standard TT"/>
            </a:endParaRPr>
          </a:p>
        </p:txBody>
      </p:sp>
      <p:sp>
        <p:nvSpPr>
          <p:cNvPr id="73" name="Google Shape;73;p15">
            <a:extLst>
              <a:ext uri="{FF2B5EF4-FFF2-40B4-BE49-F238E27FC236}">
                <a16:creationId xmlns:a16="http://schemas.microsoft.com/office/drawing/2014/main" id="{326F7628-9150-958B-2097-575D412B023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663650" y="219175"/>
            <a:ext cx="4373100" cy="133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/>
              <a:t>I linguaggi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231543938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CDA77C0F-428A-8B4D-B18A-BC19217C36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it-IT" dirty="0"/>
              <a:t>WIREFRAME DELL’APP</a:t>
            </a:r>
          </a:p>
        </p:txBody>
      </p:sp>
      <p:pic>
        <p:nvPicPr>
          <p:cNvPr id="4" name="Immagine 3" descr="Immagine che contiene testo, schermata, cerchio, logo&#10;&#10;Il contenuto generato dall'IA potrebbe non essere corretto.">
            <a:extLst>
              <a:ext uri="{FF2B5EF4-FFF2-40B4-BE49-F238E27FC236}">
                <a16:creationId xmlns:a16="http://schemas.microsoft.com/office/drawing/2014/main" id="{217FE4B0-D712-635C-F1D1-D43A9F7986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68" y="1019785"/>
            <a:ext cx="830804" cy="1849143"/>
          </a:xfrm>
          <a:prstGeom prst="rect">
            <a:avLst/>
          </a:prstGeom>
        </p:spPr>
      </p:pic>
      <p:pic>
        <p:nvPicPr>
          <p:cNvPr id="26" name="Immagine 25" descr="Immagine che contiene testo, schermata, Carattere, design&#10;&#10;Il contenuto generato dall'IA potrebbe non essere corretto.">
            <a:extLst>
              <a:ext uri="{FF2B5EF4-FFF2-40B4-BE49-F238E27FC236}">
                <a16:creationId xmlns:a16="http://schemas.microsoft.com/office/drawing/2014/main" id="{EB8A02DE-DEB9-3CE5-085A-AEC786AC52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2653483" y="3044883"/>
            <a:ext cx="830802" cy="1849140"/>
          </a:xfrm>
          <a:prstGeom prst="rect">
            <a:avLst/>
          </a:prstGeom>
        </p:spPr>
      </p:pic>
      <p:pic>
        <p:nvPicPr>
          <p:cNvPr id="28" name="Immagine 27" descr="Immagine che contiene testo, schermata, Carattere, design&#10;&#10;Il contenuto generato dall'IA potrebbe non essere corretto.">
            <a:extLst>
              <a:ext uri="{FF2B5EF4-FFF2-40B4-BE49-F238E27FC236}">
                <a16:creationId xmlns:a16="http://schemas.microsoft.com/office/drawing/2014/main" id="{5A62DBC2-49C9-4D2B-5B8A-40074EE76EC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67200" y="1067394"/>
            <a:ext cx="864552" cy="1924258"/>
          </a:xfrm>
          <a:prstGeom prst="rect">
            <a:avLst/>
          </a:prstGeom>
        </p:spPr>
      </p:pic>
      <p:pic>
        <p:nvPicPr>
          <p:cNvPr id="30" name="Immagine 29" descr="Immagine che contiene testo, schermata, biglietto da visita, design&#10;&#10;Il contenuto generato dall'IA potrebbe non essere corretto.">
            <a:extLst>
              <a:ext uri="{FF2B5EF4-FFF2-40B4-BE49-F238E27FC236}">
                <a16:creationId xmlns:a16="http://schemas.microsoft.com/office/drawing/2014/main" id="{030715D4-13A2-9A99-BC46-49964438FCE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74478" y="1057344"/>
            <a:ext cx="864552" cy="1924259"/>
          </a:xfrm>
          <a:prstGeom prst="rect">
            <a:avLst/>
          </a:prstGeom>
        </p:spPr>
      </p:pic>
      <p:pic>
        <p:nvPicPr>
          <p:cNvPr id="32" name="Immagine 31" descr="Immagine che contiene testo, schermata, Carattere, design&#10;&#10;Il contenuto generato dall'IA potrebbe non essere corretto.">
            <a:extLst>
              <a:ext uri="{FF2B5EF4-FFF2-40B4-BE49-F238E27FC236}">
                <a16:creationId xmlns:a16="http://schemas.microsoft.com/office/drawing/2014/main" id="{B7D876EF-870A-461F-D6E3-AF266C3C95B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69823" y="3073459"/>
            <a:ext cx="864553" cy="1924259"/>
          </a:xfrm>
          <a:prstGeom prst="rect">
            <a:avLst/>
          </a:prstGeom>
        </p:spPr>
      </p:pic>
      <p:pic>
        <p:nvPicPr>
          <p:cNvPr id="34" name="Immagine 33" descr="Immagine che contiene testo, schermata, logo, design&#10;&#10;Il contenuto generato dall'IA potrebbe non essere corretto.">
            <a:extLst>
              <a:ext uri="{FF2B5EF4-FFF2-40B4-BE49-F238E27FC236}">
                <a16:creationId xmlns:a16="http://schemas.microsoft.com/office/drawing/2014/main" id="{C5AF193D-71B0-A3F6-0501-C0D09EAB8DF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550270" y="1058737"/>
            <a:ext cx="838875" cy="1867109"/>
          </a:xfrm>
          <a:prstGeom prst="rect">
            <a:avLst/>
          </a:prstGeom>
        </p:spPr>
      </p:pic>
      <p:pic>
        <p:nvPicPr>
          <p:cNvPr id="36" name="Immagine 35" descr="Immagine che contiene testo, schermata, numero, Carattere&#10;&#10;Il contenuto generato dall'IA potrebbe non essere corretto.">
            <a:extLst>
              <a:ext uri="{FF2B5EF4-FFF2-40B4-BE49-F238E27FC236}">
                <a16:creationId xmlns:a16="http://schemas.microsoft.com/office/drawing/2014/main" id="{9F8718C3-4DCB-1ED3-E28B-E299F8ED67A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757616" y="3073459"/>
            <a:ext cx="838876" cy="1867109"/>
          </a:xfrm>
          <a:prstGeom prst="rect">
            <a:avLst/>
          </a:prstGeom>
        </p:spPr>
      </p:pic>
      <p:pic>
        <p:nvPicPr>
          <p:cNvPr id="38" name="Immagine 37" descr="Immagine che contiene testo, schermata, cerchio, Carattere&#10;&#10;Il contenuto generato dall'IA potrebbe non essere corretto.">
            <a:extLst>
              <a:ext uri="{FF2B5EF4-FFF2-40B4-BE49-F238E27FC236}">
                <a16:creationId xmlns:a16="http://schemas.microsoft.com/office/drawing/2014/main" id="{81F0ABAE-28AE-C04C-9E3D-B61298F422DF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633612" y="1048800"/>
            <a:ext cx="838876" cy="1867109"/>
          </a:xfrm>
          <a:prstGeom prst="rect">
            <a:avLst/>
          </a:prstGeom>
        </p:spPr>
      </p:pic>
      <p:pic>
        <p:nvPicPr>
          <p:cNvPr id="40" name="Immagine 39" descr="Immagine che contiene testo, schermata, grafica, logo&#10;&#10;Il contenuto generato dall'IA potrebbe non essere corretto.">
            <a:extLst>
              <a:ext uri="{FF2B5EF4-FFF2-40B4-BE49-F238E27FC236}">
                <a16:creationId xmlns:a16="http://schemas.microsoft.com/office/drawing/2014/main" id="{5938B6A7-133E-B8E0-A180-2A475E9BADA9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875587" y="1057344"/>
            <a:ext cx="830803" cy="1849140"/>
          </a:xfrm>
          <a:prstGeom prst="rect">
            <a:avLst/>
          </a:prstGeom>
        </p:spPr>
      </p:pic>
      <p:pic>
        <p:nvPicPr>
          <p:cNvPr id="42" name="Immagine 41" descr="Immagine che contiene testo, schermata, cerchio, Elementi grafici&#10;&#10;Il contenuto generato dall'IA potrebbe non essere corretto.">
            <a:extLst>
              <a:ext uri="{FF2B5EF4-FFF2-40B4-BE49-F238E27FC236}">
                <a16:creationId xmlns:a16="http://schemas.microsoft.com/office/drawing/2014/main" id="{AC90764F-519C-F11F-4791-3F7545F71713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528047" y="1039005"/>
            <a:ext cx="890062" cy="1981036"/>
          </a:xfrm>
          <a:prstGeom prst="rect">
            <a:avLst/>
          </a:prstGeom>
        </p:spPr>
      </p:pic>
      <p:pic>
        <p:nvPicPr>
          <p:cNvPr id="44" name="Immagine 43" descr="Immagine che contiene testo, schermata, Carattere, design&#10;&#10;Il contenuto generato dall'IA potrebbe non essere corretto.">
            <a:extLst>
              <a:ext uri="{FF2B5EF4-FFF2-40B4-BE49-F238E27FC236}">
                <a16:creationId xmlns:a16="http://schemas.microsoft.com/office/drawing/2014/main" id="{D54A1AA3-F9D8-A2C5-A901-76D1109BB44B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008393" y="3073460"/>
            <a:ext cx="864552" cy="1924258"/>
          </a:xfrm>
          <a:prstGeom prst="rect">
            <a:avLst/>
          </a:prstGeom>
        </p:spPr>
      </p:pic>
      <p:pic>
        <p:nvPicPr>
          <p:cNvPr id="46" name="Immagine 45" descr="Immagine che contiene testo, schermata, cerchio, design&#10;&#10;Il contenuto generato dall'IA potrebbe non essere corretto.">
            <a:extLst>
              <a:ext uri="{FF2B5EF4-FFF2-40B4-BE49-F238E27FC236}">
                <a16:creationId xmlns:a16="http://schemas.microsoft.com/office/drawing/2014/main" id="{0BC4043E-2ACA-8C92-2EA6-1753C6C170A0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524994" y="1035021"/>
            <a:ext cx="864553" cy="19242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03773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1" dur="5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5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7"/>
          <p:cNvSpPr txBox="1">
            <a:spLocks noGrp="1"/>
          </p:cNvSpPr>
          <p:nvPr>
            <p:ph type="body" idx="1"/>
          </p:nvPr>
        </p:nvSpPr>
        <p:spPr>
          <a:xfrm>
            <a:off x="311700" y="1171675"/>
            <a:ext cx="3999900" cy="3397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1800" b="1" dirty="0"/>
              <a:t>schermate: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it-IT" sz="1800" b="1" dirty="0"/>
          </a:p>
          <a:p>
            <a:pPr marL="457200" lvl="0" indent="-342900" algn="l" rtl="0">
              <a:spcBef>
                <a:spcPts val="1600"/>
              </a:spcBef>
              <a:spcAft>
                <a:spcPts val="0"/>
              </a:spcAft>
              <a:buSzPts val="1800"/>
              <a:buChar char="●"/>
            </a:pPr>
            <a:r>
              <a:rPr lang="it" sz="1800" b="1" dirty="0"/>
              <a:t>Login utente</a:t>
            </a:r>
            <a:endParaRPr sz="1800" b="1"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it" sz="1800" b="1" dirty="0"/>
              <a:t>Registrazione utente</a:t>
            </a:r>
            <a:endParaRPr sz="1800" b="1"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it-IT" sz="1800" b="1" dirty="0"/>
              <a:t>Home</a:t>
            </a:r>
            <a:endParaRPr lang="it" sz="1800" b="1"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it-IT" sz="1800" b="1" dirty="0"/>
              <a:t>Cartella Clinica</a:t>
            </a: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it-IT" sz="1800" b="1" dirty="0"/>
              <a:t>Profilo animale</a:t>
            </a: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it-IT" sz="1800" b="1" dirty="0"/>
              <a:t>Profilo utente</a:t>
            </a: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it-IT" sz="1800" b="1" dirty="0"/>
              <a:t>Calendario utente per salvare eventi</a:t>
            </a:r>
          </a:p>
        </p:txBody>
      </p:sp>
      <p:sp>
        <p:nvSpPr>
          <p:cNvPr id="84" name="Google Shape;84;p17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4260300" cy="61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/>
              <a:t>L’APP</a:t>
            </a:r>
            <a:endParaRPr/>
          </a:p>
        </p:txBody>
      </p:sp>
      <p:sp>
        <p:nvSpPr>
          <p:cNvPr id="85" name="Google Shape;85;p17"/>
          <p:cNvSpPr txBox="1">
            <a:spLocks noGrp="1"/>
          </p:cNvSpPr>
          <p:nvPr>
            <p:ph type="title"/>
          </p:nvPr>
        </p:nvSpPr>
        <p:spPr>
          <a:xfrm>
            <a:off x="4752925" y="445025"/>
            <a:ext cx="4260300" cy="61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/>
              <a:t>IL SITO</a:t>
            </a:r>
            <a:endParaRPr/>
          </a:p>
        </p:txBody>
      </p:sp>
      <p:sp>
        <p:nvSpPr>
          <p:cNvPr id="86" name="Google Shape;86;p17"/>
          <p:cNvSpPr txBox="1">
            <a:spLocks noGrp="1"/>
          </p:cNvSpPr>
          <p:nvPr>
            <p:ph type="body" idx="1"/>
          </p:nvPr>
        </p:nvSpPr>
        <p:spPr>
          <a:xfrm>
            <a:off x="4752925" y="1171675"/>
            <a:ext cx="3999900" cy="3397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1800" b="1" dirty="0"/>
              <a:t>schermate:</a:t>
            </a:r>
            <a:endParaRPr lang="it-IT" sz="1800" b="1" dirty="0"/>
          </a:p>
          <a:p>
            <a:pPr marL="457200" lvl="0" indent="-342900" algn="l" rtl="0">
              <a:spcBef>
                <a:spcPts val="1600"/>
              </a:spcBef>
              <a:spcAft>
                <a:spcPts val="0"/>
              </a:spcAft>
              <a:buSzPts val="1800"/>
              <a:buChar char="●"/>
            </a:pPr>
            <a:endParaRPr lang="it-IT" sz="1800" b="1" dirty="0"/>
          </a:p>
          <a:p>
            <a:pPr marL="457200" lvl="0" indent="-342900" algn="l" rtl="0">
              <a:spcBef>
                <a:spcPts val="1600"/>
              </a:spcBef>
              <a:spcAft>
                <a:spcPts val="0"/>
              </a:spcAft>
              <a:buSzPts val="1800"/>
              <a:buChar char="●"/>
            </a:pPr>
            <a:r>
              <a:rPr lang="it-IT" sz="1800" b="1" dirty="0"/>
              <a:t>Home fornitore</a:t>
            </a: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it" sz="1800" b="1" dirty="0"/>
              <a:t>pagina inserimento nuovi servizi</a:t>
            </a:r>
            <a:endParaRPr sz="1800" b="1"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it" sz="1800" b="1" dirty="0"/>
              <a:t>modifica delle informazioni</a:t>
            </a:r>
            <a:endParaRPr sz="1800" b="1" dirty="0"/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endParaRPr sz="1800" b="1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7801592-9091-B6BB-BCF7-AC7640166F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it-IT" dirty="0" err="1"/>
              <a:t>WireFrame</a:t>
            </a:r>
            <a:r>
              <a:rPr lang="it-IT" dirty="0"/>
              <a:t> Sito Web</a:t>
            </a:r>
          </a:p>
        </p:txBody>
      </p:sp>
      <p:pic>
        <p:nvPicPr>
          <p:cNvPr id="4" name="Immagine 3" descr="Immagine che contiene schermata, testo, logo, design&#10;&#10;Il contenuto generato dall'IA potrebbe non essere corretto.">
            <a:extLst>
              <a:ext uri="{FF2B5EF4-FFF2-40B4-BE49-F238E27FC236}">
                <a16:creationId xmlns:a16="http://schemas.microsoft.com/office/drawing/2014/main" id="{C21A3941-3879-616F-57A1-40E55E67E0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1700" y="1078110"/>
            <a:ext cx="2128393" cy="1513524"/>
          </a:xfrm>
          <a:prstGeom prst="rect">
            <a:avLst/>
          </a:prstGeom>
        </p:spPr>
      </p:pic>
      <p:pic>
        <p:nvPicPr>
          <p:cNvPr id="6" name="Immagine 5" descr="Immagine che contiene testo, schermata, cerchio, diagramma&#10;&#10;Il contenuto generato dall'IA potrebbe non essere corretto.">
            <a:extLst>
              <a:ext uri="{FF2B5EF4-FFF2-40B4-BE49-F238E27FC236}">
                <a16:creationId xmlns:a16="http://schemas.microsoft.com/office/drawing/2014/main" id="{777AEA47-1166-EF02-2650-BCA802532B4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92044" y="1089019"/>
            <a:ext cx="2085090" cy="1482731"/>
          </a:xfrm>
          <a:prstGeom prst="rect">
            <a:avLst/>
          </a:prstGeom>
        </p:spPr>
      </p:pic>
      <p:pic>
        <p:nvPicPr>
          <p:cNvPr id="8" name="Immagine 7" descr="Immagine che contiene schermata, testo, design, Elementi grafici&#10;&#10;Il contenuto generato dall'IA potrebbe non essere corretto.">
            <a:extLst>
              <a:ext uri="{FF2B5EF4-FFF2-40B4-BE49-F238E27FC236}">
                <a16:creationId xmlns:a16="http://schemas.microsoft.com/office/drawing/2014/main" id="{8236F5C8-2173-2BCF-EAA8-427E8464955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29085" y="1078110"/>
            <a:ext cx="2128393" cy="1513524"/>
          </a:xfrm>
          <a:prstGeom prst="rect">
            <a:avLst/>
          </a:prstGeom>
        </p:spPr>
      </p:pic>
      <p:pic>
        <p:nvPicPr>
          <p:cNvPr id="10" name="Immagine 9" descr="Immagine che contiene schermata, testo, cerchio, design&#10;&#10;Il contenuto generato dall'IA potrebbe non essere corretto.">
            <a:extLst>
              <a:ext uri="{FF2B5EF4-FFF2-40B4-BE49-F238E27FC236}">
                <a16:creationId xmlns:a16="http://schemas.microsoft.com/office/drawing/2014/main" id="{C4AD75DE-06D1-537A-DB7A-87D75298689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48763" y="2838509"/>
            <a:ext cx="2240972" cy="1593580"/>
          </a:xfrm>
          <a:prstGeom prst="rect">
            <a:avLst/>
          </a:prstGeom>
        </p:spPr>
      </p:pic>
      <p:pic>
        <p:nvPicPr>
          <p:cNvPr id="12" name="Immagine 11" descr="Immagine che contiene testo, schermata, cerchio, diagramma&#10;&#10;Il contenuto generato dall'IA potrebbe non essere corretto.">
            <a:extLst>
              <a:ext uri="{FF2B5EF4-FFF2-40B4-BE49-F238E27FC236}">
                <a16:creationId xmlns:a16="http://schemas.microsoft.com/office/drawing/2014/main" id="{AEAE007B-6A8C-99BD-7749-F1EBF147576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78749" y="2838509"/>
            <a:ext cx="2240972" cy="1593580"/>
          </a:xfrm>
          <a:prstGeom prst="rect">
            <a:avLst/>
          </a:prstGeom>
        </p:spPr>
      </p:pic>
      <p:pic>
        <p:nvPicPr>
          <p:cNvPr id="14" name="Immagine 13" descr="Immagine che contiene testo, schermata, cerchio, Carattere&#10;&#10;Il contenuto generato dall'IA potrebbe non essere corretto.">
            <a:extLst>
              <a:ext uri="{FF2B5EF4-FFF2-40B4-BE49-F238E27FC236}">
                <a16:creationId xmlns:a16="http://schemas.microsoft.com/office/drawing/2014/main" id="{D95841B2-2456-E748-DEA3-96AA3DD12DD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113756" y="2838509"/>
            <a:ext cx="2240972" cy="15935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30303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37A1EEA-6AF2-7B2F-FC04-0640DADB58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it-IT" dirty="0"/>
              <a:t>Struttura </a:t>
            </a:r>
            <a:r>
              <a:rPr lang="it-IT" dirty="0" err="1"/>
              <a:t>DataBase</a:t>
            </a:r>
            <a:r>
              <a:rPr lang="it-IT" dirty="0"/>
              <a:t> SQL</a:t>
            </a:r>
          </a:p>
        </p:txBody>
      </p:sp>
      <p:pic>
        <p:nvPicPr>
          <p:cNvPr id="4" name="Immagine 3" descr="Immagine che contiene testo, schermata, Carattere, linea&#10;&#10;Il contenuto generato dall'IA potrebbe non essere corretto.">
            <a:extLst>
              <a:ext uri="{FF2B5EF4-FFF2-40B4-BE49-F238E27FC236}">
                <a16:creationId xmlns:a16="http://schemas.microsoft.com/office/drawing/2014/main" id="{3A88FB4C-CC61-BC27-1DBC-EBF02223BC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50475" y="997820"/>
            <a:ext cx="4243048" cy="1367388"/>
          </a:xfrm>
          <a:prstGeom prst="rect">
            <a:avLst/>
          </a:prstGeom>
        </p:spPr>
      </p:pic>
      <p:pic>
        <p:nvPicPr>
          <p:cNvPr id="6" name="Immagine 5" descr="Immagine che contiene testo, schermata, Carattere, linea&#10;&#10;Il contenuto generato dall'IA potrebbe non essere corretto.">
            <a:extLst>
              <a:ext uri="{FF2B5EF4-FFF2-40B4-BE49-F238E27FC236}">
                <a16:creationId xmlns:a16="http://schemas.microsoft.com/office/drawing/2014/main" id="{A31ABDCE-E2A6-EA34-D785-76A91AE119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05621" y="2363907"/>
            <a:ext cx="3289018" cy="1292661"/>
          </a:xfrm>
          <a:prstGeom prst="rect">
            <a:avLst/>
          </a:prstGeom>
        </p:spPr>
      </p:pic>
      <p:pic>
        <p:nvPicPr>
          <p:cNvPr id="8" name="Immagine 7" descr="Immagine che contiene testo, schermata, Carattere, numero&#10;&#10;Il contenuto generato dall'IA potrebbe non essere corretto.">
            <a:extLst>
              <a:ext uri="{FF2B5EF4-FFF2-40B4-BE49-F238E27FC236}">
                <a16:creationId xmlns:a16="http://schemas.microsoft.com/office/drawing/2014/main" id="{E420661F-4F64-BDA6-6746-3E208A6A7A0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01506" y="3656568"/>
            <a:ext cx="2897247" cy="14014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29003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05A74FC-2392-6C82-B228-D989AD37A2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Backend</a:t>
            </a:r>
            <a:r>
              <a:rPr lang="it-IT" dirty="0"/>
              <a:t>:</a:t>
            </a:r>
            <a:br>
              <a:rPr lang="it-IT" dirty="0"/>
            </a:br>
            <a:endParaRPr lang="it-IT" dirty="0"/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2F17B37D-25B2-0066-AB5D-E47A9FFD93C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14300" indent="0">
              <a:buNone/>
            </a:pPr>
            <a:r>
              <a:rPr lang="it-IT" dirty="0"/>
              <a:t>FLASK: Framework per gestire le API, ossia quello strumento che permette l’interazione tra </a:t>
            </a:r>
            <a:r>
              <a:rPr lang="it-IT" dirty="0" err="1"/>
              <a:t>frontend</a:t>
            </a:r>
            <a:r>
              <a:rPr lang="it-IT" dirty="0"/>
              <a:t> (Sito WEB o APP) e </a:t>
            </a:r>
            <a:r>
              <a:rPr lang="it-IT" dirty="0" err="1"/>
              <a:t>backend</a:t>
            </a:r>
            <a:r>
              <a:rPr lang="it-IT" dirty="0"/>
              <a:t>, ossia l’interfaccia utente e la logica di programmazione, nonché le interazioni con il DB.</a:t>
            </a:r>
          </a:p>
          <a:p>
            <a:pPr marL="114300" indent="0">
              <a:buNone/>
            </a:pPr>
            <a:r>
              <a:rPr lang="it-IT" dirty="0"/>
              <a:t>Come linguaggio di programmazione per le API </a:t>
            </a:r>
            <a:r>
              <a:rPr lang="it-IT" dirty="0" err="1"/>
              <a:t>Flask</a:t>
            </a:r>
            <a:r>
              <a:rPr lang="it-IT" dirty="0"/>
              <a:t> viene </a:t>
            </a:r>
            <a:r>
              <a:rPr lang="it-IT" dirty="0" err="1"/>
              <a:t>uttilizzato</a:t>
            </a:r>
            <a:r>
              <a:rPr lang="it-IT" dirty="0"/>
              <a:t> PYTHON.</a:t>
            </a:r>
          </a:p>
          <a:p>
            <a:pPr marL="114300" indent="0">
              <a:buNone/>
            </a:pPr>
            <a:r>
              <a:rPr lang="it-IT" dirty="0"/>
              <a:t>Come ambiente di sviluppo invece VISUAL STUDIO CODE.</a:t>
            </a:r>
          </a:p>
          <a:p>
            <a:pPr marL="114300" indent="0">
              <a:buNone/>
            </a:pPr>
            <a:r>
              <a:rPr lang="it-IT" dirty="0"/>
              <a:t>Per il </a:t>
            </a:r>
            <a:r>
              <a:rPr lang="it-IT" dirty="0" err="1"/>
              <a:t>DataBase</a:t>
            </a:r>
            <a:r>
              <a:rPr lang="it-IT" dirty="0"/>
              <a:t> si è scelto un tipo di DB relazionale, MYSQL, e come ambiente di sviluppo del DB è stato utilizzato WORKBENCH.</a:t>
            </a:r>
          </a:p>
        </p:txBody>
      </p:sp>
    </p:spTree>
    <p:extLst>
      <p:ext uri="{BB962C8B-B14F-4D97-AF65-F5344CB8AC3E}">
        <p14:creationId xmlns:p14="http://schemas.microsoft.com/office/powerpoint/2010/main" val="396425737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CD9EF37-8F27-BC8E-AAF6-322944516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FrontEnd</a:t>
            </a:r>
            <a:r>
              <a:rPr lang="it-IT" dirty="0"/>
              <a:t>: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295D409D-E62D-C19E-4EB3-D40E092688C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14300" indent="0">
              <a:buNone/>
            </a:pPr>
            <a:r>
              <a:rPr lang="it-IT" dirty="0"/>
              <a:t>Per il </a:t>
            </a:r>
            <a:r>
              <a:rPr lang="it-IT" dirty="0" err="1"/>
              <a:t>FrontEnd</a:t>
            </a:r>
            <a:r>
              <a:rPr lang="it-IT" dirty="0"/>
              <a:t> dell’App Mobile, si utilizza Android, come linguaggio di programmazione JAVA (e XML come linguaggio di scripting per i layout grafici), e come IDE ANDROID STUDIO.</a:t>
            </a:r>
          </a:p>
          <a:p>
            <a:pPr marL="114300" indent="0">
              <a:buNone/>
            </a:pPr>
            <a:endParaRPr lang="it-IT" dirty="0"/>
          </a:p>
          <a:p>
            <a:pPr marL="114300" indent="0">
              <a:buNone/>
            </a:pPr>
            <a:r>
              <a:rPr lang="it-IT" dirty="0"/>
              <a:t>Per il </a:t>
            </a:r>
            <a:r>
              <a:rPr lang="it-IT" dirty="0" err="1"/>
              <a:t>FrontEnd</a:t>
            </a:r>
            <a:r>
              <a:rPr lang="it-IT" dirty="0"/>
              <a:t> del sito Web si utilizzano HTML per la struttura e CSS per lo stile grafico.</a:t>
            </a:r>
          </a:p>
        </p:txBody>
      </p:sp>
    </p:spTree>
    <p:extLst>
      <p:ext uri="{BB962C8B-B14F-4D97-AF65-F5344CB8AC3E}">
        <p14:creationId xmlns:p14="http://schemas.microsoft.com/office/powerpoint/2010/main" val="298309427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4409BA0-8EEF-C875-3258-62B10C4893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5500" y="1382350"/>
            <a:ext cx="4045200" cy="699543"/>
          </a:xfrm>
        </p:spPr>
        <p:txBody>
          <a:bodyPr/>
          <a:lstStyle/>
          <a:p>
            <a:r>
              <a:rPr lang="it-IT" dirty="0"/>
              <a:t>Schermate App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728CDC97-0B7A-1406-1CE0-421668C22F7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2115858"/>
            <a:ext cx="4045200" cy="3027642"/>
          </a:xfrm>
        </p:spPr>
        <p:txBody>
          <a:bodyPr/>
          <a:lstStyle/>
          <a:p>
            <a:r>
              <a:rPr lang="it-IT" dirty="0">
                <a:solidFill>
                  <a:srgbClr val="FF0000"/>
                </a:solidFill>
              </a:rPr>
              <a:t>Schermata Home</a:t>
            </a:r>
            <a:r>
              <a:rPr lang="it-IT" dirty="0"/>
              <a:t>:</a:t>
            </a:r>
          </a:p>
          <a:p>
            <a:pPr>
              <a:lnSpc>
                <a:spcPct val="115000"/>
              </a:lnSpc>
              <a:spcAft>
                <a:spcPts val="800"/>
              </a:spcAft>
              <a:buNone/>
            </a:pPr>
            <a:r>
              <a:rPr lang="it-IT" sz="1800" kern="100" dirty="0">
                <a:effectLst/>
                <a:latin typeface="Amasis MT Pro" panose="02040504050005020304" pitchFamily="18" charset="0"/>
                <a:ea typeface="Aptos" panose="020B0004020202020204" pitchFamily="34" charset="0"/>
                <a:cs typeface="Times New Roman" panose="02020603050405020304" pitchFamily="18" charset="0"/>
              </a:rPr>
              <a:t>- lista con tutti i nostri animali</a:t>
            </a:r>
            <a:endParaRPr lang="it-IT" sz="1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800"/>
              </a:spcAft>
              <a:buNone/>
            </a:pPr>
            <a:r>
              <a:rPr lang="it-IT" sz="1800" kern="100" dirty="0">
                <a:effectLst/>
                <a:latin typeface="Amasis MT Pro" panose="02040504050005020304" pitchFamily="18" charset="0"/>
                <a:ea typeface="Aptos" panose="020B0004020202020204" pitchFamily="34" charset="0"/>
                <a:cs typeface="Times New Roman" panose="02020603050405020304" pitchFamily="18" charset="0"/>
              </a:rPr>
              <a:t>       - possibilità di registrarne di nuovi</a:t>
            </a:r>
            <a:endParaRPr lang="it-IT" sz="1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800"/>
              </a:spcAft>
              <a:buNone/>
            </a:pPr>
            <a:r>
              <a:rPr lang="it-IT" sz="1800" kern="100" dirty="0">
                <a:effectLst/>
                <a:latin typeface="Amasis MT Pro" panose="02040504050005020304" pitchFamily="18" charset="0"/>
                <a:ea typeface="Aptos" panose="020B0004020202020204" pitchFamily="34" charset="0"/>
                <a:cs typeface="Times New Roman" panose="02020603050405020304" pitchFamily="18" charset="0"/>
              </a:rPr>
              <a:t>     - lista di attività registrate di oggi </a:t>
            </a:r>
            <a:endParaRPr lang="it-IT" sz="1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lang="it-IT" sz="1800" kern="100" dirty="0">
                <a:latin typeface="Amasis MT Pro" panose="02040504050005020304" pitchFamily="18" charset="0"/>
                <a:ea typeface="Aptos" panose="020B0004020202020204" pitchFamily="34" charset="0"/>
                <a:cs typeface="Times New Roman" panose="02020603050405020304" pitchFamily="18" charset="0"/>
              </a:rPr>
              <a:t>  </a:t>
            </a:r>
            <a:r>
              <a:rPr lang="it-IT" sz="1800" kern="100" dirty="0">
                <a:effectLst/>
                <a:latin typeface="Amasis MT Pro" panose="02040504050005020304" pitchFamily="18" charset="0"/>
                <a:ea typeface="Aptos" panose="020B0004020202020204" pitchFamily="34" charset="0"/>
                <a:cs typeface="Times New Roman" panose="02020603050405020304" pitchFamily="18" charset="0"/>
              </a:rPr>
              <a:t> - bottone per cercare servizi nell’area</a:t>
            </a:r>
            <a:endParaRPr lang="it-IT" sz="1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endParaRPr lang="it-IT" dirty="0"/>
          </a:p>
        </p:txBody>
      </p:sp>
      <p:pic>
        <p:nvPicPr>
          <p:cNvPr id="6" name="Immagine 5" descr="Immagine che contiene testo, schermata, design&#10;&#10;Il contenuto generato dall'IA potrebbe non essere corretto.">
            <a:extLst>
              <a:ext uri="{FF2B5EF4-FFF2-40B4-BE49-F238E27FC236}">
                <a16:creationId xmlns:a16="http://schemas.microsoft.com/office/drawing/2014/main" id="{AD73E6A9-D057-7B2B-3A8B-8EB6C237A0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64656" y="812703"/>
            <a:ext cx="1986687" cy="35180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12344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ottotitolo 2">
            <a:extLst>
              <a:ext uri="{FF2B5EF4-FFF2-40B4-BE49-F238E27FC236}">
                <a16:creationId xmlns:a16="http://schemas.microsoft.com/office/drawing/2014/main" id="{B926161D-599C-A7B6-3E6D-E02FBD6A459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5500" y="1307592"/>
            <a:ext cx="4045200" cy="2807207"/>
          </a:xfrm>
        </p:spPr>
        <p:txBody>
          <a:bodyPr/>
          <a:lstStyle/>
          <a:p>
            <a:r>
              <a:rPr lang="it-IT" dirty="0">
                <a:solidFill>
                  <a:srgbClr val="FF0000"/>
                </a:solidFill>
              </a:rPr>
              <a:t>Profilo Animale:</a:t>
            </a:r>
          </a:p>
          <a:p>
            <a:r>
              <a:rPr lang="it-IT" dirty="0"/>
              <a:t>Riepilogo Info Animale</a:t>
            </a:r>
          </a:p>
          <a:p>
            <a:r>
              <a:rPr lang="it-IT" dirty="0"/>
              <a:t>Accesso a modifica delle info</a:t>
            </a:r>
          </a:p>
          <a:p>
            <a:r>
              <a:rPr lang="it-IT" dirty="0"/>
              <a:t>Accesso cartella clinica</a:t>
            </a:r>
          </a:p>
          <a:p>
            <a:r>
              <a:rPr lang="it-IT" dirty="0"/>
              <a:t>Inserimento rating emotivo</a:t>
            </a:r>
          </a:p>
        </p:txBody>
      </p:sp>
      <p:pic>
        <p:nvPicPr>
          <p:cNvPr id="6" name="Immagine 5" descr="Immagine che contiene testo, schermata, Carattere, design&#10;&#10;Il contenuto generato dall'IA potrebbe non essere corretto.">
            <a:extLst>
              <a:ext uri="{FF2B5EF4-FFF2-40B4-BE49-F238E27FC236}">
                <a16:creationId xmlns:a16="http://schemas.microsoft.com/office/drawing/2014/main" id="{95941C5F-0264-87FF-F0D4-9C684704FE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6925" y="603181"/>
            <a:ext cx="2176731" cy="36596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85153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ottotitolo 2">
            <a:extLst>
              <a:ext uri="{FF2B5EF4-FFF2-40B4-BE49-F238E27FC236}">
                <a16:creationId xmlns:a16="http://schemas.microsoft.com/office/drawing/2014/main" id="{0EC3D98B-6209-4992-EBC1-F1519CFA916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81829" y="1552522"/>
            <a:ext cx="4045200" cy="2866778"/>
          </a:xfrm>
        </p:spPr>
        <p:txBody>
          <a:bodyPr/>
          <a:lstStyle/>
          <a:p>
            <a:r>
              <a:rPr lang="it-IT" dirty="0">
                <a:solidFill>
                  <a:srgbClr val="FF0000"/>
                </a:solidFill>
              </a:rPr>
              <a:t>Schermata Cartella Clinica:</a:t>
            </a:r>
          </a:p>
          <a:p>
            <a:pPr>
              <a:buFontTx/>
              <a:buChar char="-"/>
            </a:pPr>
            <a:r>
              <a:rPr lang="it-IT" dirty="0">
                <a:solidFill>
                  <a:schemeClr val="tx1"/>
                </a:solidFill>
              </a:rPr>
              <a:t>Tasto per inserire nuovi dati</a:t>
            </a:r>
          </a:p>
          <a:p>
            <a:pPr>
              <a:buFontTx/>
              <a:buChar char="-"/>
            </a:pPr>
            <a:r>
              <a:rPr lang="it-IT" dirty="0">
                <a:solidFill>
                  <a:schemeClr val="tx1"/>
                </a:solidFill>
              </a:rPr>
              <a:t>Finestra di dialogo per inserimento e salvataggio</a:t>
            </a:r>
          </a:p>
          <a:p>
            <a:pPr>
              <a:buFontTx/>
              <a:buChar char="-"/>
            </a:pPr>
            <a:r>
              <a:rPr lang="it-IT" dirty="0">
                <a:solidFill>
                  <a:schemeClr val="tx1"/>
                </a:solidFill>
              </a:rPr>
              <a:t>Lista dove vengono visualizzati i dati </a:t>
            </a:r>
          </a:p>
          <a:p>
            <a:pPr>
              <a:buFontTx/>
              <a:buChar char="-"/>
            </a:pPr>
            <a:r>
              <a:rPr lang="it-IT" dirty="0">
                <a:solidFill>
                  <a:schemeClr val="tx1"/>
                </a:solidFill>
              </a:rPr>
              <a:t>Possibilità di eliminare singola voce</a:t>
            </a:r>
          </a:p>
        </p:txBody>
      </p:sp>
      <p:pic>
        <p:nvPicPr>
          <p:cNvPr id="8" name="Immagine 7" descr="Immagine che contiene testo, schermata, numero, Carattere&#10;&#10;Il contenuto generato dall'IA potrebbe non essere corretto.">
            <a:extLst>
              <a:ext uri="{FF2B5EF4-FFF2-40B4-BE49-F238E27FC236}">
                <a16:creationId xmlns:a16="http://schemas.microsoft.com/office/drawing/2014/main" id="{8F2F0E1C-DCAC-E145-8798-37789B6A54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40268" y="885075"/>
            <a:ext cx="1852417" cy="3373349"/>
          </a:xfrm>
          <a:prstGeom prst="rect">
            <a:avLst/>
          </a:prstGeom>
        </p:spPr>
      </p:pic>
      <p:pic>
        <p:nvPicPr>
          <p:cNvPr id="10" name="Immagine 9" descr="Immagine che contiene schermata, testo, Carattere, design&#10;&#10;Il contenuto generato dall'IA potrebbe non essere corretto.">
            <a:extLst>
              <a:ext uri="{FF2B5EF4-FFF2-40B4-BE49-F238E27FC236}">
                <a16:creationId xmlns:a16="http://schemas.microsoft.com/office/drawing/2014/main" id="{1AA41953-505A-73C6-6E1E-B7BE4EEC3C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07876" y="2077814"/>
            <a:ext cx="1854295" cy="9080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98634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ottotitolo 2">
            <a:extLst>
              <a:ext uri="{FF2B5EF4-FFF2-40B4-BE49-F238E27FC236}">
                <a16:creationId xmlns:a16="http://schemas.microsoft.com/office/drawing/2014/main" id="{B683FB08-460E-B52F-C940-FFEC72A827E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4678" y="1226249"/>
            <a:ext cx="4045200" cy="3043671"/>
          </a:xfrm>
        </p:spPr>
        <p:txBody>
          <a:bodyPr/>
          <a:lstStyle/>
          <a:p>
            <a:r>
              <a:rPr lang="it-IT" dirty="0">
                <a:solidFill>
                  <a:srgbClr val="FF0000"/>
                </a:solidFill>
              </a:rPr>
              <a:t>Calendario:</a:t>
            </a:r>
          </a:p>
          <a:p>
            <a:r>
              <a:rPr lang="it-IT" dirty="0"/>
              <a:t>-Selezione di un giorno con apertura </a:t>
            </a:r>
            <a:r>
              <a:rPr lang="it-IT" dirty="0" err="1"/>
              <a:t>dialog</a:t>
            </a:r>
            <a:r>
              <a:rPr lang="it-IT" dirty="0"/>
              <a:t> per aggiungere evento</a:t>
            </a:r>
          </a:p>
          <a:p>
            <a:r>
              <a:rPr lang="it-IT" dirty="0"/>
              <a:t>-Con la pressione prolungata del giorno visualizza lista eventi con icona per rimozione</a:t>
            </a:r>
          </a:p>
        </p:txBody>
      </p:sp>
      <p:pic>
        <p:nvPicPr>
          <p:cNvPr id="6" name="Immagine 5" descr="Immagine che contiene testo, schermata, Sistema operativo, software&#10;&#10;Il contenuto generato dall'IA potrebbe non essere corretto.">
            <a:extLst>
              <a:ext uri="{FF2B5EF4-FFF2-40B4-BE49-F238E27FC236}">
                <a16:creationId xmlns:a16="http://schemas.microsoft.com/office/drawing/2014/main" id="{C967C7ED-0BFC-3B58-BFD8-8A8700C108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77410" y="494095"/>
            <a:ext cx="1868320" cy="4155310"/>
          </a:xfrm>
          <a:prstGeom prst="rect">
            <a:avLst/>
          </a:prstGeom>
        </p:spPr>
      </p:pic>
      <p:pic>
        <p:nvPicPr>
          <p:cNvPr id="8" name="Immagine 7" descr="Immagine che contiene testo, schermata, Carattere, logo&#10;&#10;Il contenuto generato dall'IA potrebbe non essere corretto.">
            <a:extLst>
              <a:ext uri="{FF2B5EF4-FFF2-40B4-BE49-F238E27FC236}">
                <a16:creationId xmlns:a16="http://schemas.microsoft.com/office/drawing/2014/main" id="{2AED0D5E-9647-D25D-ABC8-3D4767F4CF8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44585" y="1104825"/>
            <a:ext cx="1968601" cy="1466925"/>
          </a:xfrm>
          <a:prstGeom prst="rect">
            <a:avLst/>
          </a:prstGeom>
        </p:spPr>
      </p:pic>
      <p:pic>
        <p:nvPicPr>
          <p:cNvPr id="10" name="Immagine 9" descr="Immagine che contiene testo, schermata, Carattere, numero&#10;&#10;Il contenuto generato dall'IA potrebbe non essere corretto.">
            <a:extLst>
              <a:ext uri="{FF2B5EF4-FFF2-40B4-BE49-F238E27FC236}">
                <a16:creationId xmlns:a16="http://schemas.microsoft.com/office/drawing/2014/main" id="{C86F3A8D-F5A4-EAD1-6C8E-C212F348B16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44585" y="2861089"/>
            <a:ext cx="1968601" cy="15113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75483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ottotitolo 2">
            <a:extLst>
              <a:ext uri="{FF2B5EF4-FFF2-40B4-BE49-F238E27FC236}">
                <a16:creationId xmlns:a16="http://schemas.microsoft.com/office/drawing/2014/main" id="{68F8C9A6-B4FB-88FB-F809-3F6F0716246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08350" y="1821289"/>
            <a:ext cx="4045200" cy="1500921"/>
          </a:xfrm>
        </p:spPr>
        <p:txBody>
          <a:bodyPr/>
          <a:lstStyle/>
          <a:p>
            <a:r>
              <a:rPr lang="it-IT" dirty="0">
                <a:solidFill>
                  <a:srgbClr val="FF0000"/>
                </a:solidFill>
              </a:rPr>
              <a:t>Registrazione Animale:</a:t>
            </a:r>
          </a:p>
          <a:p>
            <a:r>
              <a:rPr lang="it-IT" dirty="0"/>
              <a:t>-Campi Nome, Altezza, Peso, Sesso, Descrizione</a:t>
            </a:r>
          </a:p>
        </p:txBody>
      </p:sp>
      <p:pic>
        <p:nvPicPr>
          <p:cNvPr id="6" name="Immagine 5" descr="Immagine che contiene testo, schermata, design&#10;&#10;Il contenuto generato dall'IA potrebbe non essere corretto.">
            <a:extLst>
              <a:ext uri="{FF2B5EF4-FFF2-40B4-BE49-F238E27FC236}">
                <a16:creationId xmlns:a16="http://schemas.microsoft.com/office/drawing/2014/main" id="{CC92AFB8-57C0-38BB-AFBD-B840D38957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74361" y="310858"/>
            <a:ext cx="2000130" cy="45217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50020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ottotitolo 2">
            <a:extLst>
              <a:ext uri="{FF2B5EF4-FFF2-40B4-BE49-F238E27FC236}">
                <a16:creationId xmlns:a16="http://schemas.microsoft.com/office/drawing/2014/main" id="{BB8EB369-F853-45C9-1940-5B5E18E528E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81828" y="1805616"/>
            <a:ext cx="4045200" cy="1345500"/>
          </a:xfrm>
        </p:spPr>
        <p:txBody>
          <a:bodyPr/>
          <a:lstStyle/>
          <a:p>
            <a:r>
              <a:rPr lang="it-IT" dirty="0">
                <a:solidFill>
                  <a:srgbClr val="FF0000"/>
                </a:solidFill>
              </a:rPr>
              <a:t>Registrazione Utente:</a:t>
            </a:r>
          </a:p>
          <a:p>
            <a:r>
              <a:rPr lang="it-IT" dirty="0"/>
              <a:t>-Campi da compilare: Nome, Cognome, Telefono, Email, Indirizzo, Password</a:t>
            </a:r>
          </a:p>
        </p:txBody>
      </p:sp>
      <p:pic>
        <p:nvPicPr>
          <p:cNvPr id="6" name="Immagine 5" descr="Immagine che contiene testo, schermata, design&#10;&#10;Il contenuto generato dall'IA potrebbe non essere corretto.">
            <a:extLst>
              <a:ext uri="{FF2B5EF4-FFF2-40B4-BE49-F238E27FC236}">
                <a16:creationId xmlns:a16="http://schemas.microsoft.com/office/drawing/2014/main" id="{61CAAC37-8841-E27A-5D15-D68581937B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8292" y="272014"/>
            <a:ext cx="2013853" cy="44714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71726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ottotitolo 2">
            <a:extLst>
              <a:ext uri="{FF2B5EF4-FFF2-40B4-BE49-F238E27FC236}">
                <a16:creationId xmlns:a16="http://schemas.microsoft.com/office/drawing/2014/main" id="{49C205EE-47E1-205F-245D-5EA556D0923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06322" y="1397401"/>
            <a:ext cx="4045200" cy="1345500"/>
          </a:xfrm>
        </p:spPr>
        <p:txBody>
          <a:bodyPr/>
          <a:lstStyle/>
          <a:p>
            <a:r>
              <a:rPr lang="it-IT" dirty="0">
                <a:solidFill>
                  <a:srgbClr val="FF0000"/>
                </a:solidFill>
              </a:rPr>
              <a:t>Schermata Login WEB:</a:t>
            </a:r>
          </a:p>
          <a:p>
            <a:r>
              <a:rPr lang="it-IT" dirty="0"/>
              <a:t>- Inserimento dati utente </a:t>
            </a:r>
          </a:p>
        </p:txBody>
      </p:sp>
      <p:pic>
        <p:nvPicPr>
          <p:cNvPr id="6" name="Immagine 5" descr="Immagine che contiene testo, schermata, Carattere, design&#10;&#10;Il contenuto generato dall'IA potrebbe non essere corretto.">
            <a:extLst>
              <a:ext uri="{FF2B5EF4-FFF2-40B4-BE49-F238E27FC236}">
                <a16:creationId xmlns:a16="http://schemas.microsoft.com/office/drawing/2014/main" id="{95BA0C4C-278C-0E3B-2337-F6071AE018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7025" y="552696"/>
            <a:ext cx="4259933" cy="37963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31546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ottotitolo 2">
            <a:extLst>
              <a:ext uri="{FF2B5EF4-FFF2-40B4-BE49-F238E27FC236}">
                <a16:creationId xmlns:a16="http://schemas.microsoft.com/office/drawing/2014/main" id="{C3506336-8AD7-FA48-AEB0-FC32DB17DFC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2423" y="1397401"/>
            <a:ext cx="4045200" cy="1345500"/>
          </a:xfrm>
        </p:spPr>
        <p:txBody>
          <a:bodyPr/>
          <a:lstStyle/>
          <a:p>
            <a:r>
              <a:rPr lang="it-IT" dirty="0">
                <a:solidFill>
                  <a:srgbClr val="FF0000"/>
                </a:solidFill>
              </a:rPr>
              <a:t>Registrazione Fornitore:</a:t>
            </a:r>
          </a:p>
          <a:p>
            <a:r>
              <a:rPr lang="it-IT" dirty="0"/>
              <a:t>- Campi per inserimento dati fornitore: Nome, Cognome, Email, Telefono, Password, Conferma Password</a:t>
            </a:r>
          </a:p>
        </p:txBody>
      </p:sp>
      <p:pic>
        <p:nvPicPr>
          <p:cNvPr id="6" name="Immagine 5" descr="Immagine che contiene testo, schermata, numero, Carattere&#10;&#10;Il contenuto generato dall'IA potrebbe non essere corretto.">
            <a:extLst>
              <a:ext uri="{FF2B5EF4-FFF2-40B4-BE49-F238E27FC236}">
                <a16:creationId xmlns:a16="http://schemas.microsoft.com/office/drawing/2014/main" id="{FC44E5AB-7344-D073-74E6-5A05D5AAE9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2066" y="391887"/>
            <a:ext cx="4339511" cy="3886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35405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612D28D-EE75-A61C-A287-48DDD4624E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Backend</a:t>
            </a:r>
            <a:r>
              <a:rPr lang="it-IT" dirty="0"/>
              <a:t> API: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53421EB6-7FA7-C1EC-BF77-1407BC6195A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1700" y="1171600"/>
            <a:ext cx="8611864" cy="477586"/>
          </a:xfrm>
        </p:spPr>
        <p:txBody>
          <a:bodyPr/>
          <a:lstStyle/>
          <a:p>
            <a:pPr marL="114300" indent="0">
              <a:buNone/>
            </a:pPr>
            <a:r>
              <a:rPr lang="it-IT" dirty="0"/>
              <a:t>Esempio di chiamata API per login utente:</a:t>
            </a:r>
          </a:p>
          <a:p>
            <a:pPr marL="114300" indent="0">
              <a:buNone/>
            </a:pPr>
            <a:endParaRPr lang="it-IT" dirty="0"/>
          </a:p>
        </p:txBody>
      </p:sp>
      <p:pic>
        <p:nvPicPr>
          <p:cNvPr id="5" name="Immagine 4" descr="Immagine che contiene testo, Carattere, schermata&#10;&#10;Il contenuto generato dall'IA potrebbe non essere corretto.">
            <a:extLst>
              <a:ext uri="{FF2B5EF4-FFF2-40B4-BE49-F238E27FC236}">
                <a16:creationId xmlns:a16="http://schemas.microsoft.com/office/drawing/2014/main" id="{C87F5838-F357-6E8D-FED6-7151B6760B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372" y="1620635"/>
            <a:ext cx="3785810" cy="842297"/>
          </a:xfrm>
          <a:prstGeom prst="rect">
            <a:avLst/>
          </a:prstGeom>
        </p:spPr>
      </p:pic>
      <p:sp>
        <p:nvSpPr>
          <p:cNvPr id="6" name="CasellaDiTesto 5">
            <a:extLst>
              <a:ext uri="{FF2B5EF4-FFF2-40B4-BE49-F238E27FC236}">
                <a16:creationId xmlns:a16="http://schemas.microsoft.com/office/drawing/2014/main" id="{110E82A1-BB3C-27F5-0B41-9C7C53CF5534}"/>
              </a:ext>
            </a:extLst>
          </p:cNvPr>
          <p:cNvSpPr txBox="1"/>
          <p:nvPr/>
        </p:nvSpPr>
        <p:spPr>
          <a:xfrm>
            <a:off x="4377199" y="1718617"/>
            <a:ext cx="464433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800" dirty="0">
                <a:effectLst/>
                <a:latin typeface="Amasis MT Pro" panose="02040504050005020304" pitchFamily="18" charset="0"/>
                <a:ea typeface="Aptos" panose="020B0004020202020204" pitchFamily="34" charset="0"/>
                <a:cs typeface="Times New Roman" panose="02020603050405020304" pitchFamily="18" charset="0"/>
              </a:rPr>
              <a:t>i dati inseriti dall’utente vengono salvati in due stringhe</a:t>
            </a:r>
            <a:endParaRPr lang="it-IT" dirty="0"/>
          </a:p>
        </p:txBody>
      </p:sp>
      <p:pic>
        <p:nvPicPr>
          <p:cNvPr id="8" name="Immagine 7">
            <a:extLst>
              <a:ext uri="{FF2B5EF4-FFF2-40B4-BE49-F238E27FC236}">
                <a16:creationId xmlns:a16="http://schemas.microsoft.com/office/drawing/2014/main" id="{D992FD4A-42E4-C59C-1B30-E5515810EB2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1373" y="2571750"/>
            <a:ext cx="3785810" cy="411108"/>
          </a:xfrm>
          <a:prstGeom prst="rect">
            <a:avLst/>
          </a:prstGeom>
        </p:spPr>
      </p:pic>
      <p:pic>
        <p:nvPicPr>
          <p:cNvPr id="10" name="Immagine 9" descr="Immagine che contiene testo, schermata, Carattere&#10;&#10;Il contenuto generato dall'IA potrebbe non essere corretto.">
            <a:extLst>
              <a:ext uri="{FF2B5EF4-FFF2-40B4-BE49-F238E27FC236}">
                <a16:creationId xmlns:a16="http://schemas.microsoft.com/office/drawing/2014/main" id="{1F13FEA4-2CA5-34F7-CBA4-0427FA5B7E6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1372" y="3219421"/>
            <a:ext cx="3791145" cy="1104957"/>
          </a:xfrm>
          <a:prstGeom prst="rect">
            <a:avLst/>
          </a:prstGeom>
        </p:spPr>
      </p:pic>
      <p:sp>
        <p:nvSpPr>
          <p:cNvPr id="12" name="CasellaDiTesto 11">
            <a:extLst>
              <a:ext uri="{FF2B5EF4-FFF2-40B4-BE49-F238E27FC236}">
                <a16:creationId xmlns:a16="http://schemas.microsoft.com/office/drawing/2014/main" id="{6432613A-C738-E41B-6245-706BA40D5BB1}"/>
              </a:ext>
            </a:extLst>
          </p:cNvPr>
          <p:cNvSpPr txBox="1"/>
          <p:nvPr/>
        </p:nvSpPr>
        <p:spPr>
          <a:xfrm>
            <a:off x="4377199" y="2399663"/>
            <a:ext cx="4709651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1800" dirty="0">
                <a:effectLst/>
                <a:latin typeface="Amasis MT Pro" panose="02040504050005020304" pitchFamily="18" charset="0"/>
                <a:ea typeface="Aptos" panose="020B0004020202020204" pitchFamily="34" charset="0"/>
                <a:cs typeface="Times New Roman" panose="02020603050405020304" pitchFamily="18" charset="0"/>
              </a:rPr>
              <a:t>Attraverso una classe chiamata </a:t>
            </a:r>
            <a:r>
              <a:rPr lang="it-IT" sz="1800" dirty="0" err="1">
                <a:effectLst/>
                <a:latin typeface="Amasis MT Pro" panose="02040504050005020304" pitchFamily="18" charset="0"/>
                <a:ea typeface="Aptos" panose="020B0004020202020204" pitchFamily="34" charset="0"/>
                <a:cs typeface="Times New Roman" panose="02020603050405020304" pitchFamily="18" charset="0"/>
              </a:rPr>
              <a:t>APIService</a:t>
            </a:r>
            <a:r>
              <a:rPr lang="it-IT" sz="1800" dirty="0">
                <a:effectLst/>
                <a:latin typeface="Amasis MT Pro" panose="02040504050005020304" pitchFamily="18" charset="0"/>
                <a:ea typeface="Aptos" panose="020B0004020202020204" pitchFamily="34" charset="0"/>
                <a:cs typeface="Times New Roman" panose="02020603050405020304" pitchFamily="18" charset="0"/>
              </a:rPr>
              <a:t>, i dati vengono inviati in formato JSON a un endpoint</a:t>
            </a:r>
            <a:endParaRPr lang="it-IT" sz="1600" dirty="0"/>
          </a:p>
        </p:txBody>
      </p:sp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31D92E78-E262-6FB0-37C5-0FA314D8D0FD}"/>
              </a:ext>
            </a:extLst>
          </p:cNvPr>
          <p:cNvSpPr txBox="1"/>
          <p:nvPr/>
        </p:nvSpPr>
        <p:spPr>
          <a:xfrm>
            <a:off x="4351564" y="3357709"/>
            <a:ext cx="45720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1800" dirty="0">
                <a:effectLst/>
                <a:latin typeface="Amasis MT Pro" panose="02040504050005020304" pitchFamily="18" charset="0"/>
                <a:ea typeface="Aptos" panose="020B0004020202020204" pitchFamily="34" charset="0"/>
                <a:cs typeface="Times New Roman" panose="02020603050405020304" pitchFamily="18" charset="0"/>
              </a:rPr>
              <a:t>l’endpoint di </a:t>
            </a:r>
            <a:r>
              <a:rPr lang="it-IT" sz="1800" dirty="0" err="1">
                <a:effectLst/>
                <a:latin typeface="Amasis MT Pro" panose="02040504050005020304" pitchFamily="18" charset="0"/>
                <a:ea typeface="Aptos" panose="020B0004020202020204" pitchFamily="34" charset="0"/>
                <a:cs typeface="Times New Roman" panose="02020603050405020304" pitchFamily="18" charset="0"/>
              </a:rPr>
              <a:t>Flask</a:t>
            </a:r>
            <a:r>
              <a:rPr lang="it-IT" sz="1800" dirty="0">
                <a:effectLst/>
                <a:latin typeface="Amasis MT Pro" panose="02040504050005020304" pitchFamily="18" charset="0"/>
                <a:ea typeface="Aptos" panose="020B0004020202020204" pitchFamily="34" charset="0"/>
                <a:cs typeface="Times New Roman" panose="02020603050405020304" pitchFamily="18" charset="0"/>
              </a:rPr>
              <a:t> prende i dati e con essi genera una richiesta(query) al server. Se un utente corrisponde alle credenziali, l’esito della richiesta sarà positivo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7108773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12" grpId="0"/>
      <p:bldP spid="14" grpId="0"/>
    </p:bldLst>
  </p:timing>
</p:sld>
</file>

<file path=ppt/theme/theme1.xml><?xml version="1.0" encoding="utf-8"?>
<a:theme xmlns:a="http://schemas.openxmlformats.org/drawingml/2006/main" name="Paperback">
  <a:themeElements>
    <a:clrScheme name="Paperback">
      <a:dk1>
        <a:srgbClr val="000000"/>
      </a:dk1>
      <a:lt1>
        <a:srgbClr val="FFFFFF"/>
      </a:lt1>
      <a:dk2>
        <a:srgbClr val="00695C"/>
      </a:dk2>
      <a:lt2>
        <a:srgbClr val="26A69A"/>
      </a:lt2>
      <a:accent1>
        <a:srgbClr val="FFFBF0"/>
      </a:accent1>
      <a:accent2>
        <a:srgbClr val="B7B7B7"/>
      </a:accent2>
      <a:accent3>
        <a:srgbClr val="FB8C00"/>
      </a:accent3>
      <a:accent4>
        <a:srgbClr val="80CBC4"/>
      </a:accent4>
      <a:accent5>
        <a:srgbClr val="AF4345"/>
      </a:accent5>
      <a:accent6>
        <a:srgbClr val="F58F8F"/>
      </a:accent6>
      <a:hlink>
        <a:srgbClr val="AF4345"/>
      </a:hlink>
      <a:folHlink>
        <a:srgbClr val="AF4345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117</TotalTime>
  <Words>613</Words>
  <Application>Microsoft Office PowerPoint</Application>
  <PresentationFormat>Presentazione su schermo (16:9)</PresentationFormat>
  <Paragraphs>96</Paragraphs>
  <Slides>23</Slides>
  <Notes>6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4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23</vt:i4>
      </vt:variant>
    </vt:vector>
  </HeadingPairs>
  <TitlesOfParts>
    <vt:vector size="28" baseType="lpstr">
      <vt:lpstr>Aptos</vt:lpstr>
      <vt:lpstr>Amasis MT Pro</vt:lpstr>
      <vt:lpstr>Arial</vt:lpstr>
      <vt:lpstr>Old Standard TT</vt:lpstr>
      <vt:lpstr>Paperback</vt:lpstr>
      <vt:lpstr>Presentazione dello sviluppo di «Crickle»</vt:lpstr>
      <vt:lpstr>Il progetto</vt:lpstr>
      <vt:lpstr>CRIKLE – L’APP PER GESTIRE IL TUO PET</vt:lpstr>
      <vt:lpstr>CRIKLE – PORTALE WEB</vt:lpstr>
      <vt:lpstr>LA STRUTTURA DEL PROGETTO</vt:lpstr>
      <vt:lpstr>SCHEMA ER</vt:lpstr>
      <vt:lpstr>STRUMENTI UTILIZZATI</vt:lpstr>
      <vt:lpstr>I programmi </vt:lpstr>
      <vt:lpstr>WIREFRAME DELL’APP</vt:lpstr>
      <vt:lpstr>L’APP</vt:lpstr>
      <vt:lpstr>WireFrame Sito Web</vt:lpstr>
      <vt:lpstr>Struttura DataBase SQL</vt:lpstr>
      <vt:lpstr>Backend: </vt:lpstr>
      <vt:lpstr>FrontEnd:</vt:lpstr>
      <vt:lpstr>Schermate App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Backend API: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Federica Panceri</cp:lastModifiedBy>
  <cp:revision>8</cp:revision>
  <dcterms:modified xsi:type="dcterms:W3CDTF">2025-04-11T07:53:11Z</dcterms:modified>
</cp:coreProperties>
</file>