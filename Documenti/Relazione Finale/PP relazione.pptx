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0"/>
  </p:notesMasterIdLst>
  <p:sldIdLst>
    <p:sldId id="256" r:id="rId2"/>
    <p:sldId id="257" r:id="rId3"/>
    <p:sldId id="263" r:id="rId4"/>
    <p:sldId id="264" r:id="rId5"/>
    <p:sldId id="259" r:id="rId6"/>
    <p:sldId id="266" r:id="rId7"/>
    <p:sldId id="280" r:id="rId8"/>
    <p:sldId id="268" r:id="rId9"/>
    <p:sldId id="262" r:id="rId10"/>
    <p:sldId id="265" r:id="rId11"/>
    <p:sldId id="279" r:id="rId12"/>
    <p:sldId id="260" r:id="rId13"/>
    <p:sldId id="267" r:id="rId14"/>
    <p:sldId id="285" r:id="rId15"/>
    <p:sldId id="269" r:id="rId16"/>
    <p:sldId id="284" r:id="rId17"/>
    <p:sldId id="270" r:id="rId18"/>
    <p:sldId id="271" r:id="rId19"/>
    <p:sldId id="272" r:id="rId20"/>
    <p:sldId id="273" r:id="rId21"/>
    <p:sldId id="274" r:id="rId22"/>
    <p:sldId id="275" r:id="rId23"/>
    <p:sldId id="277" r:id="rId24"/>
    <p:sldId id="278" r:id="rId25"/>
    <p:sldId id="276" r:id="rId26"/>
    <p:sldId id="281" r:id="rId27"/>
    <p:sldId id="282" r:id="rId28"/>
    <p:sldId id="283" r:id="rId29"/>
  </p:sldIdLst>
  <p:sldSz cx="9144000" cy="5143500" type="screen16x9"/>
  <p:notesSz cx="6858000" cy="9144000"/>
  <p:embeddedFontLst>
    <p:embeddedFont>
      <p:font typeface="Amasis MT Pro" panose="02040504050005020304" pitchFamily="18" charset="0"/>
      <p:regular r:id="rId31"/>
      <p:bold r:id="rId32"/>
      <p:italic r:id="rId33"/>
      <p:boldItalic r:id="rId34"/>
    </p:embeddedFont>
    <p:embeddedFont>
      <p:font typeface="Old Standard TT" panose="020B0604020202020204" charset="0"/>
      <p:regular r:id="rId35"/>
      <p:bold r:id="rId36"/>
      <p: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0357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0357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9035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9035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CCD48EFE-9E28-FB06-9F5C-ADA7602BB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c6f90357f_0_13:notes">
            <a:extLst>
              <a:ext uri="{FF2B5EF4-FFF2-40B4-BE49-F238E27FC236}">
                <a16:creationId xmlns:a16="http://schemas.microsoft.com/office/drawing/2014/main" id="{0EF63471-D14F-3792-83F6-3285A1460A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c6f90357f_0_13:notes">
            <a:extLst>
              <a:ext uri="{FF2B5EF4-FFF2-40B4-BE49-F238E27FC236}">
                <a16:creationId xmlns:a16="http://schemas.microsoft.com/office/drawing/2014/main" id="{604486BE-0471-8742-5357-5CB5BCD50A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58996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c6f90357f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c6f90357f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03418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perback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g"/><Relationship Id="rId9" Type="http://schemas.openxmlformats.org/officeDocument/2006/relationships/image" Target="../media/image12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/>
              <a:t>Presentazione dello sviluppo di «Crickle»</a:t>
            </a:r>
            <a:endParaRPr dirty="0"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/>
              <a:t>Albertario, Gabello, Panceri, Tomasso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Il progetto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E27422-26B7-28E8-E9AA-27C21C249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CRIKLE – L’APP PER GESTIRE IL TUO PET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E61A087-3BF6-C228-0496-FCA0DD5ADD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it-IT" dirty="0"/>
              <a:t>SCOPO DI APPLICAZIONE MOBILE:</a:t>
            </a:r>
          </a:p>
          <a:p>
            <a:r>
              <a:rPr lang="it-IT" dirty="0"/>
              <a:t>Registrazione Utente</a:t>
            </a:r>
          </a:p>
          <a:p>
            <a:r>
              <a:rPr lang="it-IT" dirty="0"/>
              <a:t>Registrazione animali utente</a:t>
            </a:r>
          </a:p>
          <a:p>
            <a:r>
              <a:rPr lang="it-IT" dirty="0"/>
              <a:t>Agenda delle attività da svolgere con e per il/i proprio/i animale/i</a:t>
            </a:r>
          </a:p>
          <a:p>
            <a:r>
              <a:rPr lang="it-IT" dirty="0"/>
              <a:t>Cartella Clinica per monitorare salute dell’animale</a:t>
            </a:r>
          </a:p>
          <a:p>
            <a:r>
              <a:rPr lang="it-IT" dirty="0"/>
              <a:t>Registrazione dati emotivi, per seguire l’umore del proprio animale</a:t>
            </a:r>
          </a:p>
          <a:p>
            <a:r>
              <a:rPr lang="it-IT" dirty="0"/>
              <a:t>Ricerca di servizi vari per la cura e il benessere dell’animale (da implementare in futuro)</a:t>
            </a:r>
          </a:p>
          <a:p>
            <a:r>
              <a:rPr lang="it-IT" dirty="0"/>
              <a:t>Possibilità di prenotare servizi dedicati e lasciare recensioni (prossimo sviluppo)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30026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A6BFEA-FEB4-E750-F79B-118B29219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CRIKLE – PORTALE WEB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51F22DC-5A65-CBE9-E143-A08A6752C6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it-IT" dirty="0"/>
              <a:t>SCOPO E UTILITA’ PORTALE WEB:</a:t>
            </a:r>
          </a:p>
          <a:p>
            <a:r>
              <a:rPr lang="it-IT" dirty="0"/>
              <a:t>Registrazione Fornitore</a:t>
            </a:r>
          </a:p>
          <a:p>
            <a:r>
              <a:rPr lang="it-IT" dirty="0"/>
              <a:t>Registrazione Attività/Servizio fornito</a:t>
            </a:r>
          </a:p>
          <a:p>
            <a:r>
              <a:rPr lang="it-IT" dirty="0"/>
              <a:t>Visibilità della propria attività/servizio da parte degli utenti dell’app</a:t>
            </a:r>
          </a:p>
          <a:p>
            <a:r>
              <a:rPr lang="it-IT" dirty="0"/>
              <a:t>Gestione agenda appuntamenti (implementazione futura)</a:t>
            </a:r>
          </a:p>
          <a:p>
            <a:r>
              <a:rPr lang="it-IT" dirty="0"/>
              <a:t>Gestione prenotazioni dei clienti (implementazione futura)</a:t>
            </a:r>
          </a:p>
        </p:txBody>
      </p:sp>
    </p:spTree>
    <p:extLst>
      <p:ext uri="{BB962C8B-B14F-4D97-AF65-F5344CB8AC3E}">
        <p14:creationId xmlns:p14="http://schemas.microsoft.com/office/powerpoint/2010/main" val="2965883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512700" y="1305300"/>
            <a:ext cx="8118600" cy="21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LA STRUTTURA DEL PROGETTO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A6D474-D27D-69CB-795C-6991DFE04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SCHEMA ER</a:t>
            </a:r>
          </a:p>
        </p:txBody>
      </p:sp>
      <p:pic>
        <p:nvPicPr>
          <p:cNvPr id="4" name="Immagine 3" descr="Immagine che contiene diagramma, linea, Policromia, design&#10;&#10;Il contenuto generato dall'IA potrebbe non essere corretto.">
            <a:extLst>
              <a:ext uri="{FF2B5EF4-FFF2-40B4-BE49-F238E27FC236}">
                <a16:creationId xmlns:a16="http://schemas.microsoft.com/office/drawing/2014/main" id="{BE05FA8C-E45B-A594-DA54-61D463F2B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514" y="948326"/>
            <a:ext cx="6610455" cy="3984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710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7A1EEA-6AF2-7B2F-FC04-0640DADB5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Struttura </a:t>
            </a:r>
            <a:r>
              <a:rPr lang="it-IT" dirty="0" err="1"/>
              <a:t>DataBase</a:t>
            </a:r>
            <a:r>
              <a:rPr lang="it-IT" dirty="0"/>
              <a:t> SQL</a:t>
            </a:r>
          </a:p>
        </p:txBody>
      </p:sp>
      <p:pic>
        <p:nvPicPr>
          <p:cNvPr id="4" name="Immagine 3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3A88FB4C-CC61-BC27-1DBC-EBF02223B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475" y="997820"/>
            <a:ext cx="4243048" cy="1367388"/>
          </a:xfrm>
          <a:prstGeom prst="rect">
            <a:avLst/>
          </a:prstGeom>
        </p:spPr>
      </p:pic>
      <p:pic>
        <p:nvPicPr>
          <p:cNvPr id="6" name="Immagine 5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A31ABDCE-E2A6-EA34-D785-76A91AE11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5621" y="2363907"/>
            <a:ext cx="3289018" cy="1292661"/>
          </a:xfrm>
          <a:prstGeom prst="rect">
            <a:avLst/>
          </a:prstGeom>
        </p:spPr>
      </p:pic>
      <p:pic>
        <p:nvPicPr>
          <p:cNvPr id="8" name="Immagine 7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E420661F-4F64-BDA6-6746-3E208A6A7A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1506" y="3656568"/>
            <a:ext cx="2897247" cy="1401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900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67B37A-4E82-DB05-6CE8-A77777967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STRUMENTI UTILIZZATI</a:t>
            </a:r>
          </a:p>
        </p:txBody>
      </p:sp>
      <p:pic>
        <p:nvPicPr>
          <p:cNvPr id="5" name="Immagine 4" descr="Immagine che contiene cartone animato, clipart, Arte bambini, arte&#10;&#10;Il contenuto generato dall'IA potrebbe non essere corretto.">
            <a:extLst>
              <a:ext uri="{FF2B5EF4-FFF2-40B4-BE49-F238E27FC236}">
                <a16:creationId xmlns:a16="http://schemas.microsoft.com/office/drawing/2014/main" id="{C938877A-CD7A-0DAB-8EFD-A25675D37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551" y="2779581"/>
            <a:ext cx="797056" cy="794791"/>
          </a:xfrm>
          <a:prstGeom prst="rect">
            <a:avLst/>
          </a:prstGeom>
        </p:spPr>
      </p:pic>
      <p:pic>
        <p:nvPicPr>
          <p:cNvPr id="7" name="Immagine 6" descr="Immagine che contiene schizzo, disegno, clipart, design&#10;&#10;Il contenuto generato dall'IA potrebbe non essere corretto.">
            <a:extLst>
              <a:ext uri="{FF2B5EF4-FFF2-40B4-BE49-F238E27FC236}">
                <a16:creationId xmlns:a16="http://schemas.microsoft.com/office/drawing/2014/main" id="{314F113C-2975-37C6-F356-6B492F69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950" y="2789121"/>
            <a:ext cx="794791" cy="794791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417C02DF-D677-32FC-1F4B-5E7EBCBD64B7}"/>
              </a:ext>
            </a:extLst>
          </p:cNvPr>
          <p:cNvSpPr txBox="1"/>
          <p:nvPr/>
        </p:nvSpPr>
        <p:spPr>
          <a:xfrm>
            <a:off x="2090409" y="3049171"/>
            <a:ext cx="3703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JAVA e ANDROID STUDIO per l’app Mobile</a:t>
            </a:r>
          </a:p>
        </p:txBody>
      </p:sp>
      <p:pic>
        <p:nvPicPr>
          <p:cNvPr id="10" name="Immagine 9" descr="Immagine che contiene Carattere, Elementi grafici, logo, grafica&#10;&#10;Il contenuto generato dall'IA potrebbe non essere corretto.">
            <a:extLst>
              <a:ext uri="{FF2B5EF4-FFF2-40B4-BE49-F238E27FC236}">
                <a16:creationId xmlns:a16="http://schemas.microsoft.com/office/drawing/2014/main" id="{08777605-3F92-4ACB-2B12-4B3814A5A3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459" y="1335896"/>
            <a:ext cx="1254160" cy="670248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9E91429-8423-37FD-3450-47DF7F80A402}"/>
              </a:ext>
            </a:extLst>
          </p:cNvPr>
          <p:cNvSpPr txBox="1"/>
          <p:nvPr/>
        </p:nvSpPr>
        <p:spPr>
          <a:xfrm>
            <a:off x="1895798" y="1523885"/>
            <a:ext cx="3387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FIGMA – Per </a:t>
            </a:r>
            <a:r>
              <a:rPr lang="it-IT" dirty="0" err="1"/>
              <a:t>Wireframe</a:t>
            </a:r>
            <a:r>
              <a:rPr lang="it-IT" dirty="0"/>
              <a:t> e progettazione</a:t>
            </a:r>
          </a:p>
        </p:txBody>
      </p:sp>
      <p:pic>
        <p:nvPicPr>
          <p:cNvPr id="13" name="Immagine 12" descr="Immagine che contiene Carattere, logo, Elementi grafici, simbolo&#10;&#10;Il contenuto generato dall'IA potrebbe non essere corretto.">
            <a:extLst>
              <a:ext uri="{FF2B5EF4-FFF2-40B4-BE49-F238E27FC236}">
                <a16:creationId xmlns:a16="http://schemas.microsoft.com/office/drawing/2014/main" id="{41F7A41D-D20F-4C9E-D636-2D61DA9F02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950" y="1960203"/>
            <a:ext cx="1449598" cy="785199"/>
          </a:xfrm>
          <a:prstGeom prst="rect">
            <a:avLst/>
          </a:prstGeom>
        </p:spPr>
      </p:pic>
      <p:pic>
        <p:nvPicPr>
          <p:cNvPr id="15" name="Immagine 14" descr="Immagine che contiene forchetta, simbolo, Utensile da cucina&#10;&#10;Il contenuto generato dall'IA potrebbe non essere corretto.">
            <a:extLst>
              <a:ext uri="{FF2B5EF4-FFF2-40B4-BE49-F238E27FC236}">
                <a16:creationId xmlns:a16="http://schemas.microsoft.com/office/drawing/2014/main" id="{825C8E7F-9F4E-FAA0-6251-14215AB610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1358" y="1871417"/>
            <a:ext cx="767697" cy="767697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734FAEF-37E3-1CB9-0ECB-947D6A85BADB}"/>
              </a:ext>
            </a:extLst>
          </p:cNvPr>
          <p:cNvSpPr txBox="1"/>
          <p:nvPr/>
        </p:nvSpPr>
        <p:spPr>
          <a:xfrm>
            <a:off x="2767653" y="2145097"/>
            <a:ext cx="38266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GITHUB e FORK per il repository del progetto</a:t>
            </a:r>
          </a:p>
        </p:txBody>
      </p:sp>
      <p:pic>
        <p:nvPicPr>
          <p:cNvPr id="18" name="Immagine 17" descr="Immagine che contiene simbolo, logo, Elementi grafici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3E22610F-D712-2BC7-60D2-EE4A6C94C6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0991" y="3608499"/>
            <a:ext cx="794791" cy="838341"/>
          </a:xfrm>
          <a:prstGeom prst="rect">
            <a:avLst/>
          </a:prstGeom>
        </p:spPr>
      </p:pic>
      <p:pic>
        <p:nvPicPr>
          <p:cNvPr id="20" name="Immagine 19" descr="Immagine che contiene schizzo, disegno, illustrazione&#10;&#10;Il contenuto generato dall'IA potrebbe non essere corretto.">
            <a:extLst>
              <a:ext uri="{FF2B5EF4-FFF2-40B4-BE49-F238E27FC236}">
                <a16:creationId xmlns:a16="http://schemas.microsoft.com/office/drawing/2014/main" id="{63F81E6E-BF62-0BE4-E571-DA846A9C01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8066" y="3615501"/>
            <a:ext cx="910507" cy="877196"/>
          </a:xfrm>
          <a:prstGeom prst="rect">
            <a:avLst/>
          </a:prstGeom>
        </p:spPr>
      </p:pic>
      <p:pic>
        <p:nvPicPr>
          <p:cNvPr id="22" name="Immagine 21" descr="Immagine che contiene simbolo, clipart, Elementi grafici, design&#10;&#10;Il contenuto generato dall'IA potrebbe non essere corretto.">
            <a:extLst>
              <a:ext uri="{FF2B5EF4-FFF2-40B4-BE49-F238E27FC236}">
                <a16:creationId xmlns:a16="http://schemas.microsoft.com/office/drawing/2014/main" id="{69704F02-6DF0-1973-9ACD-DB6714A40B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8950" y="3670251"/>
            <a:ext cx="819825" cy="767697"/>
          </a:xfrm>
          <a:prstGeom prst="rect">
            <a:avLst/>
          </a:prstGeom>
        </p:spPr>
      </p:pic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8C9B3F7C-E1B7-421E-1A4B-FB001D0DC358}"/>
              </a:ext>
            </a:extLst>
          </p:cNvPr>
          <p:cNvSpPr txBox="1"/>
          <p:nvPr/>
        </p:nvSpPr>
        <p:spPr>
          <a:xfrm>
            <a:off x="3189246" y="3803848"/>
            <a:ext cx="3826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PYTHON, VISUAL STUDIO CODE e FLASK per il </a:t>
            </a:r>
            <a:r>
              <a:rPr lang="it-IT" dirty="0" err="1"/>
              <a:t>backend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71372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6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6C9F9AC3-6847-892B-5E11-98E8FA2E2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152F220C-F5DC-8C74-3DC5-F7CE6C402E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775" y="219175"/>
            <a:ext cx="4373100" cy="13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 programmi </a:t>
            </a:r>
            <a:endParaRPr/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4D712B28-C62D-192E-7260-A472937D359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931700" y="13146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it" sz="2500"/>
              <a:t>Java</a:t>
            </a:r>
            <a:endParaRPr sz="250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it" sz="2500"/>
              <a:t>Python</a:t>
            </a:r>
            <a:endParaRPr sz="250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it" sz="2500"/>
              <a:t>HTML</a:t>
            </a:r>
            <a:endParaRPr sz="250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it" sz="2500"/>
              <a:t>XML</a:t>
            </a:r>
            <a:endParaRPr sz="250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it" sz="2500"/>
              <a:t>CSS</a:t>
            </a:r>
            <a:endParaRPr sz="2500"/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19BF5DEB-A2E4-4B24-CD3D-BC930BE25F94}"/>
              </a:ext>
            </a:extLst>
          </p:cNvPr>
          <p:cNvSpPr txBox="1"/>
          <p:nvPr/>
        </p:nvSpPr>
        <p:spPr>
          <a:xfrm>
            <a:off x="442825" y="1552375"/>
            <a:ext cx="3675000" cy="30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ld Standard TT"/>
              <a:buChar char="●"/>
            </a:pPr>
            <a:r>
              <a:rPr lang="it" sz="2500" dirty="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VS code</a:t>
            </a:r>
            <a:endParaRPr sz="2500" dirty="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ld Standard TT"/>
              <a:buChar char="●"/>
            </a:pPr>
            <a:r>
              <a:rPr lang="it" sz="2500" dirty="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Android Studio</a:t>
            </a:r>
            <a:endParaRPr sz="2500" dirty="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ld Standard TT"/>
              <a:buChar char="●"/>
            </a:pPr>
            <a:r>
              <a:rPr lang="it" sz="2500" dirty="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MySQL Workbench</a:t>
            </a:r>
            <a:endParaRPr sz="2500" dirty="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326F7628-9150-958B-2097-575D412B02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63650" y="219175"/>
            <a:ext cx="4373100" cy="13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 linguaggi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15439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DA77C0F-428A-8B4D-B18A-BC19217C3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WIREFRAME DELL’APP</a:t>
            </a:r>
          </a:p>
        </p:txBody>
      </p:sp>
      <p:pic>
        <p:nvPicPr>
          <p:cNvPr id="4" name="Immagine 3" descr="Immagine che contiene testo, schermata, cerchio, logo&#10;&#10;Il contenuto generato dall'IA potrebbe non essere corretto.">
            <a:extLst>
              <a:ext uri="{FF2B5EF4-FFF2-40B4-BE49-F238E27FC236}">
                <a16:creationId xmlns:a16="http://schemas.microsoft.com/office/drawing/2014/main" id="{217FE4B0-D712-635C-F1D1-D43A9F798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68" y="1019785"/>
            <a:ext cx="830804" cy="1849143"/>
          </a:xfrm>
          <a:prstGeom prst="rect">
            <a:avLst/>
          </a:prstGeom>
        </p:spPr>
      </p:pic>
      <p:pic>
        <p:nvPicPr>
          <p:cNvPr id="26" name="Immagine 25" descr="Immagine che contiene testo, schermat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EB8A02DE-DEB9-3CE5-085A-AEC786AC5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653483" y="3044883"/>
            <a:ext cx="830802" cy="1849140"/>
          </a:xfrm>
          <a:prstGeom prst="rect">
            <a:avLst/>
          </a:prstGeom>
        </p:spPr>
      </p:pic>
      <p:pic>
        <p:nvPicPr>
          <p:cNvPr id="28" name="Immagine 27" descr="Immagine che contiene testo, schermat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5A62DBC2-49C9-4D2B-5B8A-40074EE76E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200" y="1067394"/>
            <a:ext cx="864552" cy="1924258"/>
          </a:xfrm>
          <a:prstGeom prst="rect">
            <a:avLst/>
          </a:prstGeom>
        </p:spPr>
      </p:pic>
      <p:pic>
        <p:nvPicPr>
          <p:cNvPr id="30" name="Immagine 29" descr="Immagine che contiene testo, schermata, biglietto da visita, design&#10;&#10;Il contenuto generato dall'IA potrebbe non essere corretto.">
            <a:extLst>
              <a:ext uri="{FF2B5EF4-FFF2-40B4-BE49-F238E27FC236}">
                <a16:creationId xmlns:a16="http://schemas.microsoft.com/office/drawing/2014/main" id="{030715D4-13A2-9A99-BC46-49964438FC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4478" y="1057344"/>
            <a:ext cx="864552" cy="1924259"/>
          </a:xfrm>
          <a:prstGeom prst="rect">
            <a:avLst/>
          </a:prstGeom>
        </p:spPr>
      </p:pic>
      <p:pic>
        <p:nvPicPr>
          <p:cNvPr id="32" name="Immagine 31" descr="Immagine che contiene testo, schermat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B7D876EF-870A-461F-D6E3-AF266C3C95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9823" y="3073459"/>
            <a:ext cx="864553" cy="1924259"/>
          </a:xfrm>
          <a:prstGeom prst="rect">
            <a:avLst/>
          </a:prstGeom>
        </p:spPr>
      </p:pic>
      <p:pic>
        <p:nvPicPr>
          <p:cNvPr id="34" name="Immagine 33" descr="Immagine che contiene testo, schermata, logo, design&#10;&#10;Il contenuto generato dall'IA potrebbe non essere corretto.">
            <a:extLst>
              <a:ext uri="{FF2B5EF4-FFF2-40B4-BE49-F238E27FC236}">
                <a16:creationId xmlns:a16="http://schemas.microsoft.com/office/drawing/2014/main" id="{C5AF193D-71B0-A3F6-0501-C0D09EAB8D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0270" y="1058737"/>
            <a:ext cx="838875" cy="1867109"/>
          </a:xfrm>
          <a:prstGeom prst="rect">
            <a:avLst/>
          </a:prstGeom>
        </p:spPr>
      </p:pic>
      <p:pic>
        <p:nvPicPr>
          <p:cNvPr id="36" name="Immagine 35" descr="Immagine che contiene testo, schermata, numero, Carattere&#10;&#10;Il contenuto generato dall'IA potrebbe non essere corretto.">
            <a:extLst>
              <a:ext uri="{FF2B5EF4-FFF2-40B4-BE49-F238E27FC236}">
                <a16:creationId xmlns:a16="http://schemas.microsoft.com/office/drawing/2014/main" id="{9F8718C3-4DCB-1ED3-E28B-E299F8ED67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7616" y="3073459"/>
            <a:ext cx="838876" cy="1867109"/>
          </a:xfrm>
          <a:prstGeom prst="rect">
            <a:avLst/>
          </a:prstGeom>
        </p:spPr>
      </p:pic>
      <p:pic>
        <p:nvPicPr>
          <p:cNvPr id="38" name="Immagine 37" descr="Immagine che contiene testo, schermata, cerchio, Carattere&#10;&#10;Il contenuto generato dall'IA potrebbe non essere corretto.">
            <a:extLst>
              <a:ext uri="{FF2B5EF4-FFF2-40B4-BE49-F238E27FC236}">
                <a16:creationId xmlns:a16="http://schemas.microsoft.com/office/drawing/2014/main" id="{81F0ABAE-28AE-C04C-9E3D-B61298F422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3612" y="1048800"/>
            <a:ext cx="838876" cy="1867109"/>
          </a:xfrm>
          <a:prstGeom prst="rect">
            <a:avLst/>
          </a:prstGeom>
        </p:spPr>
      </p:pic>
      <p:pic>
        <p:nvPicPr>
          <p:cNvPr id="40" name="Immagine 39" descr="Immagine che contiene testo, schermata, grafica, logo&#10;&#10;Il contenuto generato dall'IA potrebbe non essere corretto.">
            <a:extLst>
              <a:ext uri="{FF2B5EF4-FFF2-40B4-BE49-F238E27FC236}">
                <a16:creationId xmlns:a16="http://schemas.microsoft.com/office/drawing/2014/main" id="{5938B6A7-133E-B8E0-A180-2A475E9BADA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75587" y="1057344"/>
            <a:ext cx="830803" cy="1849140"/>
          </a:xfrm>
          <a:prstGeom prst="rect">
            <a:avLst/>
          </a:prstGeom>
        </p:spPr>
      </p:pic>
      <p:pic>
        <p:nvPicPr>
          <p:cNvPr id="42" name="Immagine 41" descr="Immagine che contiene testo, schermata, cerchi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AC90764F-519C-F11F-4791-3F7545F7171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28047" y="1039005"/>
            <a:ext cx="890062" cy="1981036"/>
          </a:xfrm>
          <a:prstGeom prst="rect">
            <a:avLst/>
          </a:prstGeom>
        </p:spPr>
      </p:pic>
      <p:pic>
        <p:nvPicPr>
          <p:cNvPr id="44" name="Immagine 43" descr="Immagine che contiene testo, schermat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D54A1AA3-F9D8-A2C5-A901-76D1109BB44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08393" y="3073460"/>
            <a:ext cx="864552" cy="1924258"/>
          </a:xfrm>
          <a:prstGeom prst="rect">
            <a:avLst/>
          </a:prstGeom>
        </p:spPr>
      </p:pic>
      <p:pic>
        <p:nvPicPr>
          <p:cNvPr id="46" name="Immagine 45" descr="Immagine che contiene testo, schermata, cerchio, design&#10;&#10;Il contenuto generato dall'IA potrebbe non essere corretto.">
            <a:extLst>
              <a:ext uri="{FF2B5EF4-FFF2-40B4-BE49-F238E27FC236}">
                <a16:creationId xmlns:a16="http://schemas.microsoft.com/office/drawing/2014/main" id="{0BC4043E-2ACA-8C92-2EA6-1753C6C170A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24994" y="1035021"/>
            <a:ext cx="864553" cy="192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377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801592-9091-B6BB-BCF7-AC7640166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 err="1"/>
              <a:t>WireFrame</a:t>
            </a:r>
            <a:r>
              <a:rPr lang="it-IT" dirty="0"/>
              <a:t> Sito Web</a:t>
            </a:r>
          </a:p>
        </p:txBody>
      </p:sp>
      <p:pic>
        <p:nvPicPr>
          <p:cNvPr id="4" name="Immagine 3" descr="Immagine che contiene schermata, testo, logo, design&#10;&#10;Il contenuto generato dall'IA potrebbe non essere corretto.">
            <a:extLst>
              <a:ext uri="{FF2B5EF4-FFF2-40B4-BE49-F238E27FC236}">
                <a16:creationId xmlns:a16="http://schemas.microsoft.com/office/drawing/2014/main" id="{C21A3941-3879-616F-57A1-40E55E67E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078110"/>
            <a:ext cx="2128393" cy="1513524"/>
          </a:xfrm>
          <a:prstGeom prst="rect">
            <a:avLst/>
          </a:prstGeom>
        </p:spPr>
      </p:pic>
      <p:pic>
        <p:nvPicPr>
          <p:cNvPr id="6" name="Immagine 5" descr="Immagine che contiene testo, schermata, cerchio, diagramma&#10;&#10;Il contenuto generato dall'IA potrebbe non essere corretto.">
            <a:extLst>
              <a:ext uri="{FF2B5EF4-FFF2-40B4-BE49-F238E27FC236}">
                <a16:creationId xmlns:a16="http://schemas.microsoft.com/office/drawing/2014/main" id="{777AEA47-1166-EF02-2650-BCA802532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044" y="1089019"/>
            <a:ext cx="2085090" cy="1482731"/>
          </a:xfrm>
          <a:prstGeom prst="rect">
            <a:avLst/>
          </a:prstGeom>
        </p:spPr>
      </p:pic>
      <p:pic>
        <p:nvPicPr>
          <p:cNvPr id="8" name="Immagine 7" descr="Immagine che contiene schermata, testo, design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8236F5C8-2173-2BCF-EAA8-427E846495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085" y="1078110"/>
            <a:ext cx="2128393" cy="1513524"/>
          </a:xfrm>
          <a:prstGeom prst="rect">
            <a:avLst/>
          </a:prstGeom>
        </p:spPr>
      </p:pic>
      <p:pic>
        <p:nvPicPr>
          <p:cNvPr id="10" name="Immagine 9" descr="Immagine che contiene schermata, testo, cerchio, design&#10;&#10;Il contenuto generato dall'IA potrebbe non essere corretto.">
            <a:extLst>
              <a:ext uri="{FF2B5EF4-FFF2-40B4-BE49-F238E27FC236}">
                <a16:creationId xmlns:a16="http://schemas.microsoft.com/office/drawing/2014/main" id="{C4AD75DE-06D1-537A-DB7A-87D7529868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8763" y="2838509"/>
            <a:ext cx="2240972" cy="1593580"/>
          </a:xfrm>
          <a:prstGeom prst="rect">
            <a:avLst/>
          </a:prstGeom>
        </p:spPr>
      </p:pic>
      <p:pic>
        <p:nvPicPr>
          <p:cNvPr id="12" name="Immagine 11" descr="Immagine che contiene testo, schermata, cerchio, diagramma&#10;&#10;Il contenuto generato dall'IA potrebbe non essere corretto.">
            <a:extLst>
              <a:ext uri="{FF2B5EF4-FFF2-40B4-BE49-F238E27FC236}">
                <a16:creationId xmlns:a16="http://schemas.microsoft.com/office/drawing/2014/main" id="{AEAE007B-6A8C-99BD-7749-F1EBF14757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8749" y="2838509"/>
            <a:ext cx="2240972" cy="1593580"/>
          </a:xfrm>
          <a:prstGeom prst="rect">
            <a:avLst/>
          </a:prstGeom>
        </p:spPr>
      </p:pic>
      <p:pic>
        <p:nvPicPr>
          <p:cNvPr id="14" name="Immagine 13" descr="Immagine che contiene testo, schermata, cerchio, Carattere&#10;&#10;Il contenuto generato dall'IA potrebbe non essere corretto.">
            <a:extLst>
              <a:ext uri="{FF2B5EF4-FFF2-40B4-BE49-F238E27FC236}">
                <a16:creationId xmlns:a16="http://schemas.microsoft.com/office/drawing/2014/main" id="{D95841B2-2456-E748-DEA3-96AA3DD12D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3756" y="2838509"/>
            <a:ext cx="2240972" cy="159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030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body" idx="1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/>
              <a:t>schermate: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sz="1800" b="1"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it" sz="1800" b="1" dirty="0"/>
              <a:t>Login utente</a:t>
            </a:r>
            <a:endParaRPr sz="1800" b="1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 sz="1800" b="1" dirty="0"/>
              <a:t>Registrazione utente</a:t>
            </a:r>
            <a:endParaRPr sz="1800" b="1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-IT" sz="1800" b="1" dirty="0"/>
              <a:t>Home</a:t>
            </a:r>
            <a:endParaRPr lang="it" sz="1800" b="1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-IT" sz="1800" b="1" dirty="0"/>
              <a:t>Cartella Clinica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-IT" sz="1800" b="1" dirty="0"/>
              <a:t>Profilo animale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-IT" sz="1800" b="1" dirty="0"/>
              <a:t>Profilo utente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-IT" sz="1800" b="1" dirty="0"/>
              <a:t>Calendario utente per salvare eventi</a:t>
            </a:r>
          </a:p>
        </p:txBody>
      </p:sp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42603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L’APP</a:t>
            </a:r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4752925" y="445025"/>
            <a:ext cx="42603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IL SITO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4752925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/>
              <a:t>schermate:</a:t>
            </a:r>
            <a:endParaRPr lang="it-IT" sz="1800" b="1"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endParaRPr lang="it-IT" sz="1800" b="1"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it-IT" sz="1800" b="1" dirty="0"/>
              <a:t>Home fornitore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 sz="1800" b="1" dirty="0"/>
              <a:t>pagina inserimento nuovi servizi</a:t>
            </a:r>
            <a:endParaRPr sz="1800" b="1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 sz="1800" b="1" dirty="0"/>
              <a:t>modifica delle informazioni</a:t>
            </a:r>
            <a:endParaRPr sz="1800" b="1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8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5A74FC-2392-6C82-B228-D989AD37A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Backend</a:t>
            </a:r>
            <a:r>
              <a:rPr lang="it-IT" dirty="0"/>
              <a:t>:</a:t>
            </a:r>
            <a:br>
              <a:rPr lang="it-IT" dirty="0"/>
            </a:b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F17B37D-25B2-0066-AB5D-E47A9FFD93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it-IT" dirty="0"/>
              <a:t>FLASK: Framework per gestire le API, ossia quello strumento che permette l’interazione tra </a:t>
            </a:r>
            <a:r>
              <a:rPr lang="it-IT" dirty="0" err="1"/>
              <a:t>frontend</a:t>
            </a:r>
            <a:r>
              <a:rPr lang="it-IT" dirty="0"/>
              <a:t> (Sito WEB o APP) e </a:t>
            </a:r>
            <a:r>
              <a:rPr lang="it-IT" dirty="0" err="1"/>
              <a:t>backend</a:t>
            </a:r>
            <a:r>
              <a:rPr lang="it-IT" dirty="0"/>
              <a:t>, ossia l’interfaccia utente e la logica di programmazione, nonché le interazioni con il DB.</a:t>
            </a:r>
          </a:p>
          <a:p>
            <a:pPr marL="114300" indent="0">
              <a:buNone/>
            </a:pPr>
            <a:r>
              <a:rPr lang="it-IT" dirty="0"/>
              <a:t>Come linguaggio di programmazione per le API </a:t>
            </a:r>
            <a:r>
              <a:rPr lang="it-IT" dirty="0" err="1"/>
              <a:t>Flask</a:t>
            </a:r>
            <a:r>
              <a:rPr lang="it-IT" dirty="0"/>
              <a:t> viene </a:t>
            </a:r>
            <a:r>
              <a:rPr lang="it-IT" dirty="0" err="1"/>
              <a:t>uttilizzato</a:t>
            </a:r>
            <a:r>
              <a:rPr lang="it-IT" dirty="0"/>
              <a:t> PYTHON.</a:t>
            </a:r>
          </a:p>
          <a:p>
            <a:pPr marL="114300" indent="0">
              <a:buNone/>
            </a:pPr>
            <a:r>
              <a:rPr lang="it-IT" dirty="0"/>
              <a:t>Come ambiente di sviluppo invece VISUAL STUDIO CODE.</a:t>
            </a:r>
          </a:p>
          <a:p>
            <a:pPr marL="114300" indent="0">
              <a:buNone/>
            </a:pPr>
            <a:r>
              <a:rPr lang="it-IT" dirty="0"/>
              <a:t>Per il </a:t>
            </a:r>
            <a:r>
              <a:rPr lang="it-IT" dirty="0" err="1"/>
              <a:t>DataBase</a:t>
            </a:r>
            <a:r>
              <a:rPr lang="it-IT" dirty="0"/>
              <a:t> si è scelto un tipo di DB relazionale, MYSQL, e come ambiente di sviluppo del DB è stato utilizzato WORKBENCH.</a:t>
            </a:r>
          </a:p>
        </p:txBody>
      </p:sp>
    </p:spTree>
    <p:extLst>
      <p:ext uri="{BB962C8B-B14F-4D97-AF65-F5344CB8AC3E}">
        <p14:creationId xmlns:p14="http://schemas.microsoft.com/office/powerpoint/2010/main" val="3964257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C00AFA-9F53-B324-A036-AD8F56F30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Backend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3F04B0C-6616-F8AA-BBE4-8A9E265F34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it-IT" dirty="0"/>
              <a:t>Il ruolo del </a:t>
            </a:r>
            <a:r>
              <a:rPr lang="it-IT" dirty="0" err="1"/>
              <a:t>backend</a:t>
            </a:r>
            <a:r>
              <a:rPr lang="it-IT" dirty="0"/>
              <a:t> è quello di rendere utilizzabili i dati e permettere il funzionamento interattivo di app e portale web. Il </a:t>
            </a:r>
            <a:r>
              <a:rPr lang="it-IT" dirty="0" err="1"/>
              <a:t>DataBase</a:t>
            </a:r>
            <a:r>
              <a:rPr lang="it-IT" dirty="0"/>
              <a:t> creato </a:t>
            </a:r>
            <a:r>
              <a:rPr lang="it-IT" dirty="0" err="1"/>
              <a:t>imagazzina</a:t>
            </a:r>
            <a:r>
              <a:rPr lang="it-IT" dirty="0"/>
              <a:t> i dati e li rende fruibili agli utenti tramite l’uso di API. In pratica quando un utente si registra su app o sito i suoi dati vengono salvati sul Server e successivamente possono essere modificati o cancellati a seconda delle esigenze degli utenti.</a:t>
            </a:r>
          </a:p>
        </p:txBody>
      </p:sp>
    </p:spTree>
    <p:extLst>
      <p:ext uri="{BB962C8B-B14F-4D97-AF65-F5344CB8AC3E}">
        <p14:creationId xmlns:p14="http://schemas.microsoft.com/office/powerpoint/2010/main" val="427418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D9EF37-8F27-BC8E-AAF6-322944516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FrontEnd</a:t>
            </a:r>
            <a:r>
              <a:rPr lang="it-IT" dirty="0"/>
              <a:t>: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95D409D-E62D-C19E-4EB3-D40E09268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it-IT" dirty="0"/>
              <a:t>Per il </a:t>
            </a:r>
            <a:r>
              <a:rPr lang="it-IT" dirty="0" err="1"/>
              <a:t>FrontEnd</a:t>
            </a:r>
            <a:r>
              <a:rPr lang="it-IT" dirty="0"/>
              <a:t> dell’App Mobile, si utilizza Android, come linguaggio di programmazione JAVA (e XML come linguaggio di scripting per i layout grafici), e come IDE ANDROID STUDIO.</a:t>
            </a:r>
          </a:p>
          <a:p>
            <a:pPr marL="114300" indent="0">
              <a:buNone/>
            </a:pPr>
            <a:endParaRPr lang="it-IT" dirty="0"/>
          </a:p>
          <a:p>
            <a:pPr marL="114300" indent="0">
              <a:buNone/>
            </a:pPr>
            <a:r>
              <a:rPr lang="it-IT" dirty="0"/>
              <a:t>Per il </a:t>
            </a:r>
            <a:r>
              <a:rPr lang="it-IT" dirty="0" err="1"/>
              <a:t>FrontEnd</a:t>
            </a:r>
            <a:r>
              <a:rPr lang="it-IT" dirty="0"/>
              <a:t> del sito Web si utilizzano HTML per la struttura e CSS per lo stile grafico.</a:t>
            </a:r>
          </a:p>
        </p:txBody>
      </p:sp>
    </p:spTree>
    <p:extLst>
      <p:ext uri="{BB962C8B-B14F-4D97-AF65-F5344CB8AC3E}">
        <p14:creationId xmlns:p14="http://schemas.microsoft.com/office/powerpoint/2010/main" val="2983094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1D6D180-D528-A515-B125-F5368256A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FrontEnd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61B30F2-96D0-37CD-00E7-63CBA35E7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7" y="1171600"/>
            <a:ext cx="8628193" cy="3397200"/>
          </a:xfrm>
        </p:spPr>
        <p:txBody>
          <a:bodyPr/>
          <a:lstStyle/>
          <a:p>
            <a:pPr marL="114300" indent="0">
              <a:buNone/>
            </a:pPr>
            <a:r>
              <a:rPr lang="it-IT" dirty="0"/>
              <a:t>Per l’app è stata creata una UI semplice e intuitiva. Ad esempio nella home abbiamo una grafica che ricorda, per i profili degli animali, i vari social più diffusi in modo da semplificare la UX .L’utente, tramite semplici bottoni riconoscibili è da  subito in grado di comprendere il funzionamento dei vari componenti dell’applicazione.</a:t>
            </a:r>
          </a:p>
          <a:p>
            <a:pPr marL="114300" indent="0">
              <a:buNone/>
            </a:pPr>
            <a:r>
              <a:rPr lang="it-IT" dirty="0"/>
              <a:t>Per ciò che riguarda il portale Web si è scelto di utilizzare la stessa logica, e di rendere facile per l’utente l’inserimento dei propri dati e l’utilizzo del portale al fine di presentare i propri servizi agli utenti.</a:t>
            </a:r>
          </a:p>
        </p:txBody>
      </p:sp>
    </p:spTree>
    <p:extLst>
      <p:ext uri="{BB962C8B-B14F-4D97-AF65-F5344CB8AC3E}">
        <p14:creationId xmlns:p14="http://schemas.microsoft.com/office/powerpoint/2010/main" val="17944531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409BA0-8EEF-C875-3258-62B10C489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382350"/>
            <a:ext cx="4045200" cy="699543"/>
          </a:xfrm>
        </p:spPr>
        <p:txBody>
          <a:bodyPr/>
          <a:lstStyle/>
          <a:p>
            <a:r>
              <a:rPr lang="it-IT" dirty="0"/>
              <a:t>Schermate App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28CDC97-0B7A-1406-1CE0-421668C22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115858"/>
            <a:ext cx="4045200" cy="3027642"/>
          </a:xfrm>
        </p:spPr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Schermata Home</a:t>
            </a:r>
            <a:r>
              <a:rPr lang="it-IT" dirty="0"/>
              <a:t>: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it-IT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 lista con tutti i nostri animali</a:t>
            </a:r>
            <a:endParaRPr lang="it-IT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it-IT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- possibilità di registrarne di nuovi</a:t>
            </a:r>
            <a:endParaRPr lang="it-IT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it-IT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- lista di attività registrate di oggi </a:t>
            </a:r>
            <a:endParaRPr lang="it-IT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it-IT" sz="1800" kern="100" dirty="0"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lang="it-IT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- bottone per cercare servizi nell’area</a:t>
            </a:r>
            <a:endParaRPr lang="it-IT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it-IT" dirty="0"/>
          </a:p>
        </p:txBody>
      </p:sp>
      <p:pic>
        <p:nvPicPr>
          <p:cNvPr id="6" name="Immagine 5" descr="Immagine che contiene testo, schermata, design&#10;&#10;Il contenuto generato dall'IA potrebbe non essere corretto.">
            <a:extLst>
              <a:ext uri="{FF2B5EF4-FFF2-40B4-BE49-F238E27FC236}">
                <a16:creationId xmlns:a16="http://schemas.microsoft.com/office/drawing/2014/main" id="{AD73E6A9-D057-7B2B-3A8B-8EB6C237A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656" y="812703"/>
            <a:ext cx="1986687" cy="3518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234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B926161D-599C-A7B6-3E6D-E02FBD6A45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500" y="1307592"/>
            <a:ext cx="4045200" cy="2807207"/>
          </a:xfrm>
        </p:spPr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Profilo Animale:</a:t>
            </a:r>
          </a:p>
          <a:p>
            <a:r>
              <a:rPr lang="it-IT" dirty="0"/>
              <a:t>Riepilogo Info Animale</a:t>
            </a:r>
          </a:p>
          <a:p>
            <a:r>
              <a:rPr lang="it-IT" dirty="0"/>
              <a:t>Accesso a modifica delle info</a:t>
            </a:r>
          </a:p>
          <a:p>
            <a:r>
              <a:rPr lang="it-IT" dirty="0"/>
              <a:t>Accesso cartella clinica</a:t>
            </a:r>
          </a:p>
          <a:p>
            <a:r>
              <a:rPr lang="it-IT" dirty="0"/>
              <a:t>Inserimento rating emotivo</a:t>
            </a:r>
          </a:p>
        </p:txBody>
      </p:sp>
      <p:pic>
        <p:nvPicPr>
          <p:cNvPr id="6" name="Immagine 5" descr="Immagine che contiene testo, schermat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95941C5F-0264-87FF-F0D4-9C684704F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925" y="603181"/>
            <a:ext cx="2176731" cy="3659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515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0EC3D98B-6209-4992-EBC1-F1519CFA91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829" y="1552522"/>
            <a:ext cx="4045200" cy="2866778"/>
          </a:xfrm>
        </p:spPr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Schermata Cartella Clinica:</a:t>
            </a:r>
          </a:p>
          <a:p>
            <a:pPr>
              <a:buFontTx/>
              <a:buChar char="-"/>
            </a:pPr>
            <a:r>
              <a:rPr lang="it-IT" dirty="0">
                <a:solidFill>
                  <a:schemeClr val="tx1"/>
                </a:solidFill>
              </a:rPr>
              <a:t>Tasto per inserire nuovi dati</a:t>
            </a:r>
          </a:p>
          <a:p>
            <a:pPr>
              <a:buFontTx/>
              <a:buChar char="-"/>
            </a:pPr>
            <a:r>
              <a:rPr lang="it-IT" dirty="0">
                <a:solidFill>
                  <a:schemeClr val="tx1"/>
                </a:solidFill>
              </a:rPr>
              <a:t>Finestra di dialogo per inserimento e salvataggio</a:t>
            </a:r>
          </a:p>
          <a:p>
            <a:pPr>
              <a:buFontTx/>
              <a:buChar char="-"/>
            </a:pPr>
            <a:r>
              <a:rPr lang="it-IT" dirty="0">
                <a:solidFill>
                  <a:schemeClr val="tx1"/>
                </a:solidFill>
              </a:rPr>
              <a:t>Lista dove vengono visualizzati i dati </a:t>
            </a:r>
          </a:p>
          <a:p>
            <a:pPr>
              <a:buFontTx/>
              <a:buChar char="-"/>
            </a:pPr>
            <a:r>
              <a:rPr lang="it-IT" dirty="0">
                <a:solidFill>
                  <a:schemeClr val="tx1"/>
                </a:solidFill>
              </a:rPr>
              <a:t>Possibilità di eliminare singola voce</a:t>
            </a:r>
          </a:p>
        </p:txBody>
      </p:sp>
      <p:pic>
        <p:nvPicPr>
          <p:cNvPr id="8" name="Immagine 7" descr="Immagine che contiene testo, schermata, numero, Carattere&#10;&#10;Il contenuto generato dall'IA potrebbe non essere corretto.">
            <a:extLst>
              <a:ext uri="{FF2B5EF4-FFF2-40B4-BE49-F238E27FC236}">
                <a16:creationId xmlns:a16="http://schemas.microsoft.com/office/drawing/2014/main" id="{8F2F0E1C-DCAC-E145-8798-37789B6A5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0268" y="885075"/>
            <a:ext cx="1852417" cy="3373349"/>
          </a:xfrm>
          <a:prstGeom prst="rect">
            <a:avLst/>
          </a:prstGeom>
        </p:spPr>
      </p:pic>
      <p:pic>
        <p:nvPicPr>
          <p:cNvPr id="10" name="Immagine 9" descr="Immagine che contiene schermata, testo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1AA41953-505A-73C6-6E1E-B7BE4EEC3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876" y="2077814"/>
            <a:ext cx="1854295" cy="908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863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B683FB08-460E-B52F-C940-FFEC72A827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4678" y="1226249"/>
            <a:ext cx="4045200" cy="3043671"/>
          </a:xfrm>
        </p:spPr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Calendario:</a:t>
            </a:r>
          </a:p>
          <a:p>
            <a:r>
              <a:rPr lang="it-IT" dirty="0"/>
              <a:t>-Selezione di un giorno con apertura </a:t>
            </a:r>
            <a:r>
              <a:rPr lang="it-IT" dirty="0" err="1"/>
              <a:t>dialog</a:t>
            </a:r>
            <a:r>
              <a:rPr lang="it-IT" dirty="0"/>
              <a:t> per aggiungere evento</a:t>
            </a:r>
          </a:p>
          <a:p>
            <a:r>
              <a:rPr lang="it-IT" dirty="0"/>
              <a:t>-Con la pressione prolungata del giorno visualizza lista eventi con icona per rimozione</a:t>
            </a:r>
          </a:p>
        </p:txBody>
      </p:sp>
      <p:pic>
        <p:nvPicPr>
          <p:cNvPr id="6" name="Immagine 5" descr="Immagine che contiene testo, schermata, Sistema operativo, software&#10;&#10;Il contenuto generato dall'IA potrebbe non essere corretto.">
            <a:extLst>
              <a:ext uri="{FF2B5EF4-FFF2-40B4-BE49-F238E27FC236}">
                <a16:creationId xmlns:a16="http://schemas.microsoft.com/office/drawing/2014/main" id="{C967C7ED-0BFC-3B58-BFD8-8A8700C10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410" y="494095"/>
            <a:ext cx="1868320" cy="4155310"/>
          </a:xfrm>
          <a:prstGeom prst="rect">
            <a:avLst/>
          </a:prstGeom>
        </p:spPr>
      </p:pic>
      <p:pic>
        <p:nvPicPr>
          <p:cNvPr id="8" name="Immagine 7" descr="Immagine che contiene testo, schermata, Carattere, logo&#10;&#10;Il contenuto generato dall'IA potrebbe non essere corretto.">
            <a:extLst>
              <a:ext uri="{FF2B5EF4-FFF2-40B4-BE49-F238E27FC236}">
                <a16:creationId xmlns:a16="http://schemas.microsoft.com/office/drawing/2014/main" id="{2AED0D5E-9647-D25D-ABC8-3D4767F4C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585" y="1104825"/>
            <a:ext cx="1968601" cy="1466925"/>
          </a:xfrm>
          <a:prstGeom prst="rect">
            <a:avLst/>
          </a:prstGeom>
        </p:spPr>
      </p:pic>
      <p:pic>
        <p:nvPicPr>
          <p:cNvPr id="10" name="Immagine 9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C86F3A8D-F5A4-EAD1-6C8E-C212F348B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4585" y="2861089"/>
            <a:ext cx="1968601" cy="151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548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8F8C9A6-B4FB-88FB-F809-3F6F07162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350" y="1821289"/>
            <a:ext cx="4045200" cy="1500921"/>
          </a:xfrm>
        </p:spPr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Registrazione Animale:</a:t>
            </a:r>
          </a:p>
          <a:p>
            <a:r>
              <a:rPr lang="it-IT" dirty="0"/>
              <a:t>-Campi Nome, Altezza, Peso, Sesso, Descrizione</a:t>
            </a:r>
          </a:p>
        </p:txBody>
      </p:sp>
      <p:pic>
        <p:nvPicPr>
          <p:cNvPr id="6" name="Immagine 5" descr="Immagine che contiene testo, schermata, design&#10;&#10;Il contenuto generato dall'IA potrebbe non essere corretto.">
            <a:extLst>
              <a:ext uri="{FF2B5EF4-FFF2-40B4-BE49-F238E27FC236}">
                <a16:creationId xmlns:a16="http://schemas.microsoft.com/office/drawing/2014/main" id="{CC92AFB8-57C0-38BB-AFBD-B840D3895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361" y="310858"/>
            <a:ext cx="2000130" cy="4521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002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BB8EB369-F853-45C9-1940-5B5E18E528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828" y="1805616"/>
            <a:ext cx="4045200" cy="1345500"/>
          </a:xfrm>
        </p:spPr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Registrazione Utente:</a:t>
            </a:r>
          </a:p>
          <a:p>
            <a:r>
              <a:rPr lang="it-IT" dirty="0"/>
              <a:t>-Campi da compilare: Nome, Cognome, Telefono, Email, Indirizzo, Password</a:t>
            </a:r>
          </a:p>
        </p:txBody>
      </p:sp>
      <p:pic>
        <p:nvPicPr>
          <p:cNvPr id="6" name="Immagine 5" descr="Immagine che contiene testo, schermata, design&#10;&#10;Il contenuto generato dall'IA potrebbe non essere corretto.">
            <a:extLst>
              <a:ext uri="{FF2B5EF4-FFF2-40B4-BE49-F238E27FC236}">
                <a16:creationId xmlns:a16="http://schemas.microsoft.com/office/drawing/2014/main" id="{61CAAC37-8841-E27A-5D15-D68581937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292" y="272014"/>
            <a:ext cx="2013853" cy="4471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172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49C205EE-47E1-205F-245D-5EA556D092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6322" y="1397401"/>
            <a:ext cx="4045200" cy="1345500"/>
          </a:xfrm>
        </p:spPr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Schermata Login WEB:</a:t>
            </a:r>
          </a:p>
          <a:p>
            <a:r>
              <a:rPr lang="it-IT" dirty="0"/>
              <a:t>- Inserimento dati utente </a:t>
            </a:r>
          </a:p>
        </p:txBody>
      </p:sp>
      <p:pic>
        <p:nvPicPr>
          <p:cNvPr id="6" name="Immagine 5" descr="Immagine che contiene testo, schermat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95BA0C4C-278C-0E3B-2337-F6071AE01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025" y="552696"/>
            <a:ext cx="4259933" cy="379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54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C3506336-8AD7-FA48-AEB0-FC32DB17D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423" y="1397401"/>
            <a:ext cx="4045200" cy="1345500"/>
          </a:xfrm>
        </p:spPr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Registrazione Fornitore:</a:t>
            </a:r>
          </a:p>
          <a:p>
            <a:r>
              <a:rPr lang="it-IT" dirty="0"/>
              <a:t>- Campi per inserimento dati fornitore: Nome, Cognome, Email, Telefono, Password, Conferma Password</a:t>
            </a:r>
          </a:p>
        </p:txBody>
      </p:sp>
      <p:pic>
        <p:nvPicPr>
          <p:cNvPr id="6" name="Immagine 5" descr="Immagine che contiene testo, schermata, numero, Carattere&#10;&#10;Il contenuto generato dall'IA potrebbe non essere corretto.">
            <a:extLst>
              <a:ext uri="{FF2B5EF4-FFF2-40B4-BE49-F238E27FC236}">
                <a16:creationId xmlns:a16="http://schemas.microsoft.com/office/drawing/2014/main" id="{FC44E5AB-7344-D073-74E6-5A05D5AAE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066" y="391887"/>
            <a:ext cx="4339511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540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12D28D-EE75-A61C-A287-48DDD4624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Backend</a:t>
            </a:r>
            <a:r>
              <a:rPr lang="it-IT" dirty="0"/>
              <a:t> API: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3421EB6-7FA7-C1EC-BF77-1407BC619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71600"/>
            <a:ext cx="8611864" cy="477586"/>
          </a:xfrm>
        </p:spPr>
        <p:txBody>
          <a:bodyPr/>
          <a:lstStyle/>
          <a:p>
            <a:pPr marL="114300" indent="0">
              <a:buNone/>
            </a:pPr>
            <a:r>
              <a:rPr lang="it-IT" dirty="0"/>
              <a:t>Esempio di chiamata API per login utente:</a:t>
            </a:r>
          </a:p>
          <a:p>
            <a:pPr marL="114300" indent="0">
              <a:buNone/>
            </a:pPr>
            <a:endParaRPr lang="it-IT" dirty="0"/>
          </a:p>
        </p:txBody>
      </p:sp>
      <p:pic>
        <p:nvPicPr>
          <p:cNvPr id="5" name="Immagine 4" descr="Immagine che contiene testo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C87F5838-F357-6E8D-FED6-7151B6760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72" y="1620635"/>
            <a:ext cx="3785810" cy="842297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110E82A1-BB3C-27F5-0B41-9C7C53CF5534}"/>
              </a:ext>
            </a:extLst>
          </p:cNvPr>
          <p:cNvSpPr txBox="1"/>
          <p:nvPr/>
        </p:nvSpPr>
        <p:spPr>
          <a:xfrm>
            <a:off x="4377199" y="1718617"/>
            <a:ext cx="4644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8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 dati inseriti dall’utente vengono salvati in due stringhe</a:t>
            </a:r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D992FD4A-42E4-C59C-1B30-E5515810EB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73" y="2571750"/>
            <a:ext cx="3785810" cy="411108"/>
          </a:xfrm>
          <a:prstGeom prst="rect">
            <a:avLst/>
          </a:prstGeom>
        </p:spPr>
      </p:pic>
      <p:pic>
        <p:nvPicPr>
          <p:cNvPr id="10" name="Immagine 9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1F13FEA4-2CA5-34F7-CBA4-0427FA5B7E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372" y="3219421"/>
            <a:ext cx="3791145" cy="1104957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432613A-C738-E41B-6245-706BA40D5BB1}"/>
              </a:ext>
            </a:extLst>
          </p:cNvPr>
          <p:cNvSpPr txBox="1"/>
          <p:nvPr/>
        </p:nvSpPr>
        <p:spPr>
          <a:xfrm>
            <a:off x="4377199" y="2399663"/>
            <a:ext cx="47096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Attraverso una classe chiamata </a:t>
            </a:r>
            <a:r>
              <a:rPr lang="it-IT" sz="1800" dirty="0" err="1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APIService</a:t>
            </a:r>
            <a:r>
              <a:rPr lang="it-IT" sz="18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i dati vengono inviati in formato JSON a un endpoint</a:t>
            </a:r>
            <a:endParaRPr lang="it-IT" sz="1600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1D92E78-E262-6FB0-37C5-0FA314D8D0FD}"/>
              </a:ext>
            </a:extLst>
          </p:cNvPr>
          <p:cNvSpPr txBox="1"/>
          <p:nvPr/>
        </p:nvSpPr>
        <p:spPr>
          <a:xfrm>
            <a:off x="4351564" y="3357709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l’endpoint di </a:t>
            </a:r>
            <a:r>
              <a:rPr lang="it-IT" sz="1800" dirty="0" err="1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Flask</a:t>
            </a:r>
            <a:r>
              <a:rPr lang="it-IT" sz="18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prende i dati e con essi genera una richiesta(query) al server. Se un utente corrisponde alle credenziali, l’esito della richiesta sarà positivo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10877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CFCDC084-CEE7-A9A1-A14C-0263EBE718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693" y="1547295"/>
            <a:ext cx="4045200" cy="1345500"/>
          </a:xfrm>
        </p:spPr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ESEMPIO CLASSE MODELLO:</a:t>
            </a:r>
          </a:p>
          <a:p>
            <a:r>
              <a:rPr lang="it-IT" dirty="0"/>
              <a:t>-ATTRIBUTI</a:t>
            </a:r>
          </a:p>
          <a:p>
            <a:r>
              <a:rPr lang="it-IT" dirty="0"/>
              <a:t>-COSTRUTTORE</a:t>
            </a:r>
          </a:p>
          <a:p>
            <a:r>
              <a:rPr lang="it-IT" dirty="0"/>
              <a:t>-GETTER e SETTER</a:t>
            </a:r>
          </a:p>
        </p:txBody>
      </p:sp>
      <p:pic>
        <p:nvPicPr>
          <p:cNvPr id="6" name="Immagine 5" descr="Immagine che contiene testo, schermata, software&#10;&#10;Il contenuto generato dall'IA potrebbe non essere corretto.">
            <a:extLst>
              <a:ext uri="{FF2B5EF4-FFF2-40B4-BE49-F238E27FC236}">
                <a16:creationId xmlns:a16="http://schemas.microsoft.com/office/drawing/2014/main" id="{6827942A-1A84-A90B-AC37-8B1521EC4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808" y="0"/>
            <a:ext cx="1428567" cy="1657453"/>
          </a:xfrm>
          <a:prstGeom prst="rect">
            <a:avLst/>
          </a:prstGeom>
        </p:spPr>
      </p:pic>
      <p:pic>
        <p:nvPicPr>
          <p:cNvPr id="8" name="Immagine 7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3198BFF7-C3F0-0785-5405-7D4649729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122" y="1747282"/>
            <a:ext cx="4306500" cy="1021719"/>
          </a:xfrm>
          <a:prstGeom prst="rect">
            <a:avLst/>
          </a:prstGeom>
        </p:spPr>
      </p:pic>
      <p:pic>
        <p:nvPicPr>
          <p:cNvPr id="10" name="Immagine 9" descr="Immagine che contiene testo, schermata, software&#10;&#10;Il contenuto generato dall'IA potrebbe non essere corretto.">
            <a:extLst>
              <a:ext uri="{FF2B5EF4-FFF2-40B4-BE49-F238E27FC236}">
                <a16:creationId xmlns:a16="http://schemas.microsoft.com/office/drawing/2014/main" id="{CCA4ECAE-9BF6-2610-2AD2-523D05315A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7266" y="2858830"/>
            <a:ext cx="1723649" cy="203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216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9885F108-F481-B97B-1855-923F8E76DC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992" y="1787131"/>
            <a:ext cx="4045200" cy="1345500"/>
          </a:xfrm>
        </p:spPr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ESEMPIO XML(VIEW):</a:t>
            </a:r>
          </a:p>
          <a:p>
            <a:r>
              <a:rPr lang="it-IT" dirty="0"/>
              <a:t>-Uso del Relative Layout</a:t>
            </a:r>
          </a:p>
          <a:p>
            <a:r>
              <a:rPr lang="it-IT" dirty="0"/>
              <a:t>-Annidamento Frame Layout</a:t>
            </a:r>
          </a:p>
          <a:p>
            <a:r>
              <a:rPr lang="it-IT" dirty="0"/>
              <a:t>-Esempio component </a:t>
            </a:r>
            <a:r>
              <a:rPr lang="it-IT" dirty="0" err="1"/>
              <a:t>ImageView</a:t>
            </a:r>
            <a:endParaRPr lang="it-IT" dirty="0"/>
          </a:p>
        </p:txBody>
      </p:sp>
      <p:pic>
        <p:nvPicPr>
          <p:cNvPr id="6" name="Immagine 5" descr="Immagine che contiene testo, schermata, menu, Carattere&#10;&#10;Il contenuto generato dall'IA potrebbe non essere corretto.">
            <a:extLst>
              <a:ext uri="{FF2B5EF4-FFF2-40B4-BE49-F238E27FC236}">
                <a16:creationId xmlns:a16="http://schemas.microsoft.com/office/drawing/2014/main" id="{6BA422BD-03CC-5663-AC02-5CFB825EC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656" y="919263"/>
            <a:ext cx="3598089" cy="3081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175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901CAD4B-1583-994C-B63D-D85D1BF35D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4678" y="1609672"/>
            <a:ext cx="4045200" cy="1345500"/>
          </a:xfrm>
        </p:spPr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ESEMPIO CONTROLLER:</a:t>
            </a:r>
          </a:p>
          <a:p>
            <a:r>
              <a:rPr lang="it-IT" dirty="0">
                <a:solidFill>
                  <a:srgbClr val="FF0000"/>
                </a:solidFill>
              </a:rPr>
              <a:t>Home Activity</a:t>
            </a:r>
          </a:p>
          <a:p>
            <a:r>
              <a:rPr lang="it-IT" dirty="0"/>
              <a:t>-Metodo </a:t>
            </a:r>
            <a:r>
              <a:rPr lang="it-IT" dirty="0" err="1"/>
              <a:t>OnCreate</a:t>
            </a:r>
            <a:r>
              <a:rPr lang="it-IT" dirty="0"/>
              <a:t> </a:t>
            </a:r>
          </a:p>
          <a:p>
            <a:r>
              <a:rPr lang="it-IT" dirty="0"/>
              <a:t>-</a:t>
            </a:r>
            <a:r>
              <a:rPr lang="it-IT" dirty="0" err="1"/>
              <a:t>findVieById</a:t>
            </a:r>
            <a:r>
              <a:rPr lang="it-IT" dirty="0"/>
              <a:t> per richiamare componenti grafiche</a:t>
            </a:r>
          </a:p>
          <a:p>
            <a:r>
              <a:rPr lang="it-IT" dirty="0"/>
              <a:t>-metodi per interazione con UI e DB</a:t>
            </a:r>
          </a:p>
          <a:p>
            <a:r>
              <a:rPr lang="it-IT" dirty="0"/>
              <a:t> </a:t>
            </a:r>
          </a:p>
        </p:txBody>
      </p:sp>
      <p:pic>
        <p:nvPicPr>
          <p:cNvPr id="6" name="Immagine 5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F271EAF2-18B8-BF2C-11DF-5D318022A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272" y="117114"/>
            <a:ext cx="3967842" cy="1586695"/>
          </a:xfrm>
          <a:prstGeom prst="rect">
            <a:avLst/>
          </a:prstGeom>
        </p:spPr>
      </p:pic>
      <p:pic>
        <p:nvPicPr>
          <p:cNvPr id="8" name="Immagine 7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CEC9632A-A0E9-7946-735F-74E5B586F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272" y="2006871"/>
            <a:ext cx="4045200" cy="948301"/>
          </a:xfrm>
          <a:prstGeom prst="rect">
            <a:avLst/>
          </a:prstGeom>
        </p:spPr>
      </p:pic>
      <p:pic>
        <p:nvPicPr>
          <p:cNvPr id="12" name="Immagine 11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C7185983-AA32-7CE6-27BD-140881EDDF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4272" y="3218360"/>
            <a:ext cx="4054894" cy="180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735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838</Words>
  <Application>Microsoft Office PowerPoint</Application>
  <PresentationFormat>Presentazione su schermo (16:9)</PresentationFormat>
  <Paragraphs>115</Paragraphs>
  <Slides>28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28</vt:i4>
      </vt:variant>
    </vt:vector>
  </HeadingPairs>
  <TitlesOfParts>
    <vt:vector size="33" baseType="lpstr">
      <vt:lpstr>Amasis MT Pro</vt:lpstr>
      <vt:lpstr>Aptos</vt:lpstr>
      <vt:lpstr>Old Standard TT</vt:lpstr>
      <vt:lpstr>Arial</vt:lpstr>
      <vt:lpstr>Paperback</vt:lpstr>
      <vt:lpstr>Presentazione dello sviluppo di «Crickle»</vt:lpstr>
      <vt:lpstr>Il progetto</vt:lpstr>
      <vt:lpstr>CRIKLE – L’APP PER GESTIRE IL TUO PET</vt:lpstr>
      <vt:lpstr>CRIKLE – PORTALE WEB</vt:lpstr>
      <vt:lpstr>LA STRUTTURA DEL PROGETTO</vt:lpstr>
      <vt:lpstr>SCHEMA ER</vt:lpstr>
      <vt:lpstr>Struttura DataBase SQL</vt:lpstr>
      <vt:lpstr>STRUMENTI UTILIZZATI</vt:lpstr>
      <vt:lpstr>I programmi </vt:lpstr>
      <vt:lpstr>WIREFRAME DELL’APP</vt:lpstr>
      <vt:lpstr>WireFrame Sito Web</vt:lpstr>
      <vt:lpstr>L’APP</vt:lpstr>
      <vt:lpstr>Backend: </vt:lpstr>
      <vt:lpstr>Backend</vt:lpstr>
      <vt:lpstr>FrontEnd:</vt:lpstr>
      <vt:lpstr>FrontEnd</vt:lpstr>
      <vt:lpstr>Schermate App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Backend API: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Federica Panceri</cp:lastModifiedBy>
  <cp:revision>11</cp:revision>
  <dcterms:modified xsi:type="dcterms:W3CDTF">2025-04-11T08:39:58Z</dcterms:modified>
</cp:coreProperties>
</file>