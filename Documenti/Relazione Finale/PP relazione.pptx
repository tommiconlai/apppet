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63" r:id="rId4"/>
    <p:sldId id="264" r:id="rId5"/>
    <p:sldId id="259" r:id="rId6"/>
    <p:sldId id="266" r:id="rId7"/>
    <p:sldId id="268" r:id="rId8"/>
    <p:sldId id="262" r:id="rId9"/>
    <p:sldId id="265" r:id="rId10"/>
    <p:sldId id="260" r:id="rId11"/>
    <p:sldId id="279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7" r:id="rId21"/>
    <p:sldId id="278" r:id="rId22"/>
    <p:sldId id="276" r:id="rId23"/>
  </p:sldIdLst>
  <p:sldSz cx="9144000" cy="5143500" type="screen16x9"/>
  <p:notesSz cx="6858000" cy="9144000"/>
  <p:embeddedFontLst>
    <p:embeddedFont>
      <p:font typeface="Amasis MT Pro" panose="02040504050005020304" pitchFamily="18" charset="0"/>
      <p:regular r:id="rId25"/>
      <p:bold r:id="rId26"/>
      <p:italic r:id="rId27"/>
      <p:boldItalic r:id="rId28"/>
    </p:embeddedFont>
    <p:embeddedFont>
      <p:font typeface="Old Standard TT" panose="020B0604020202020204" charset="0"/>
      <p:regular r:id="rId29"/>
      <p:bold r:id="rId30"/>
      <p: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3418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jpg"/><Relationship Id="rId9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E27422-26B7-28E8-E9AA-27C21C249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L’APP PER GESTIRE IL TUO PET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E61A087-3BF6-C228-0496-FCA0DD5AD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DI APPLICAZIONE MOBILE:</a:t>
            </a:r>
          </a:p>
          <a:p>
            <a:r>
              <a:rPr lang="it-IT" dirty="0"/>
              <a:t>Registrazione Utente</a:t>
            </a:r>
          </a:p>
          <a:p>
            <a:r>
              <a:rPr lang="it-IT" dirty="0"/>
              <a:t>Registrazione animali utente</a:t>
            </a:r>
          </a:p>
          <a:p>
            <a:r>
              <a:rPr lang="it-IT" dirty="0"/>
              <a:t>Agenda delle attività da svolgere con e per il/i proprio/i animale/i</a:t>
            </a:r>
          </a:p>
          <a:p>
            <a:r>
              <a:rPr lang="it-IT" dirty="0"/>
              <a:t>Cartella Clinica per monitorare salute dell’animale</a:t>
            </a:r>
          </a:p>
          <a:p>
            <a:r>
              <a:rPr lang="it-IT" dirty="0"/>
              <a:t>Registrazione dati emotivi, per seguire l’umore del proprio animale</a:t>
            </a:r>
          </a:p>
          <a:p>
            <a:r>
              <a:rPr lang="it-IT" dirty="0"/>
              <a:t>Ricerca di servizi vari per la cura e il benessere dell’animale (da implementare in futuro)</a:t>
            </a:r>
          </a:p>
          <a:p>
            <a:r>
              <a:rPr lang="it-IT" dirty="0"/>
              <a:t>Possibilità di prenotare servizi dedicati e lasciare recensioni (prossimo sviluppo)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300266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A6BFEA-FEB4-E750-F79B-118B29219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CRIKLE – PORTALE WEB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51F22DC-5A65-CBE9-E143-A08A6752C6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SCOPO E UTILITA’ PORTALE WEB:</a:t>
            </a:r>
          </a:p>
          <a:p>
            <a:r>
              <a:rPr lang="it-IT" dirty="0"/>
              <a:t>Registrazione Fornitore</a:t>
            </a:r>
          </a:p>
          <a:p>
            <a:r>
              <a:rPr lang="it-IT" dirty="0"/>
              <a:t>Registrazione Attività/Servizio fornito</a:t>
            </a:r>
          </a:p>
          <a:p>
            <a:r>
              <a:rPr lang="it-IT" dirty="0"/>
              <a:t>Visibilità della propria attività/servizio da parte degli utenti dell’app</a:t>
            </a:r>
          </a:p>
          <a:p>
            <a:r>
              <a:rPr lang="it-IT" dirty="0"/>
              <a:t>Gestione agenda appuntamenti (implementazione futura)</a:t>
            </a:r>
          </a:p>
          <a:p>
            <a:r>
              <a:rPr lang="it-IT" dirty="0"/>
              <a:t>Gestione prenotazioni dei clienti (implementazione futura)</a:t>
            </a:r>
          </a:p>
        </p:txBody>
      </p:sp>
    </p:spTree>
    <p:extLst>
      <p:ext uri="{BB962C8B-B14F-4D97-AF65-F5344CB8AC3E}">
        <p14:creationId xmlns:p14="http://schemas.microsoft.com/office/powerpoint/2010/main" val="2965883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A6D474-D27D-69CB-795C-6991DFE04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SCHEMA ER</a:t>
            </a:r>
          </a:p>
        </p:txBody>
      </p:sp>
      <p:pic>
        <p:nvPicPr>
          <p:cNvPr id="4" name="Immagine 3" descr="Immagine che contiene diagramma, linea, Policromia, design&#10;&#10;Il contenuto generato dall'IA potrebbe non essere corretto.">
            <a:extLst>
              <a:ext uri="{FF2B5EF4-FFF2-40B4-BE49-F238E27FC236}">
                <a16:creationId xmlns:a16="http://schemas.microsoft.com/office/drawing/2014/main" id="{BE05FA8C-E45B-A594-DA54-61D463F2B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14" y="948326"/>
            <a:ext cx="6610455" cy="398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710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7B37A-4E82-DB05-6CE8-A77777967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STRUMENTI UTILIZZATI</a:t>
            </a:r>
          </a:p>
        </p:txBody>
      </p:sp>
      <p:pic>
        <p:nvPicPr>
          <p:cNvPr id="5" name="Immagine 4" descr="Immagine che contiene cartone animato, clipart, Arte bambini, arte&#10;&#10;Il contenuto generato dall'IA potrebbe non essere corretto.">
            <a:extLst>
              <a:ext uri="{FF2B5EF4-FFF2-40B4-BE49-F238E27FC236}">
                <a16:creationId xmlns:a16="http://schemas.microsoft.com/office/drawing/2014/main" id="{C938877A-CD7A-0DAB-8EFD-A25675D37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551" y="2779581"/>
            <a:ext cx="797056" cy="794791"/>
          </a:xfrm>
          <a:prstGeom prst="rect">
            <a:avLst/>
          </a:prstGeom>
        </p:spPr>
      </p:pic>
      <p:pic>
        <p:nvPicPr>
          <p:cNvPr id="7" name="Immagine 6" descr="Immagine che contiene schizzo, disegno, clipart, design&#10;&#10;Il contenuto generato dall'IA potrebbe non essere corretto.">
            <a:extLst>
              <a:ext uri="{FF2B5EF4-FFF2-40B4-BE49-F238E27FC236}">
                <a16:creationId xmlns:a16="http://schemas.microsoft.com/office/drawing/2014/main" id="{314F113C-2975-37C6-F356-6B492F69E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950" y="2789121"/>
            <a:ext cx="794791" cy="794791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417C02DF-D677-32FC-1F4B-5E7EBCBD64B7}"/>
              </a:ext>
            </a:extLst>
          </p:cNvPr>
          <p:cNvSpPr txBox="1"/>
          <p:nvPr/>
        </p:nvSpPr>
        <p:spPr>
          <a:xfrm>
            <a:off x="2090409" y="3049171"/>
            <a:ext cx="37032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JAVA e ANDROID STUDIO per l’app Mobile</a:t>
            </a:r>
          </a:p>
        </p:txBody>
      </p:sp>
      <p:pic>
        <p:nvPicPr>
          <p:cNvPr id="10" name="Immagine 9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08777605-3F92-4ACB-2B12-4B3814A5A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59" y="1335896"/>
            <a:ext cx="1254160" cy="670248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9E91429-8423-37FD-3450-47DF7F80A402}"/>
              </a:ext>
            </a:extLst>
          </p:cNvPr>
          <p:cNvSpPr txBox="1"/>
          <p:nvPr/>
        </p:nvSpPr>
        <p:spPr>
          <a:xfrm>
            <a:off x="1895798" y="1523885"/>
            <a:ext cx="3387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FIGMA – Per </a:t>
            </a:r>
            <a:r>
              <a:rPr lang="it-IT" dirty="0" err="1"/>
              <a:t>Wireframe</a:t>
            </a:r>
            <a:r>
              <a:rPr lang="it-IT" dirty="0"/>
              <a:t> e progettazione</a:t>
            </a:r>
          </a:p>
        </p:txBody>
      </p:sp>
      <p:pic>
        <p:nvPicPr>
          <p:cNvPr id="13" name="Immagine 12" descr="Immagine che contiene Carattere, logo, Elementi grafici, simbolo&#10;&#10;Il contenuto generato dall'IA potrebbe non essere corretto.">
            <a:extLst>
              <a:ext uri="{FF2B5EF4-FFF2-40B4-BE49-F238E27FC236}">
                <a16:creationId xmlns:a16="http://schemas.microsoft.com/office/drawing/2014/main" id="{41F7A41D-D20F-4C9E-D636-2D61DA9F02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950" y="1960203"/>
            <a:ext cx="1449598" cy="785199"/>
          </a:xfrm>
          <a:prstGeom prst="rect">
            <a:avLst/>
          </a:prstGeom>
        </p:spPr>
      </p:pic>
      <p:pic>
        <p:nvPicPr>
          <p:cNvPr id="15" name="Immagine 14" descr="Immagine che contiene forchetta, simbolo, Utensile da cucina&#10;&#10;Il contenuto generato dall'IA potrebbe non essere corretto.">
            <a:extLst>
              <a:ext uri="{FF2B5EF4-FFF2-40B4-BE49-F238E27FC236}">
                <a16:creationId xmlns:a16="http://schemas.microsoft.com/office/drawing/2014/main" id="{825C8E7F-9F4E-FAA0-6251-14215AB6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1358" y="1871417"/>
            <a:ext cx="767697" cy="767697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34FAEF-37E3-1CB9-0ECB-947D6A85BADB}"/>
              </a:ext>
            </a:extLst>
          </p:cNvPr>
          <p:cNvSpPr txBox="1"/>
          <p:nvPr/>
        </p:nvSpPr>
        <p:spPr>
          <a:xfrm>
            <a:off x="2767653" y="2145097"/>
            <a:ext cx="38266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GITHUB e FORK per il repository del progetto</a:t>
            </a:r>
          </a:p>
        </p:txBody>
      </p:sp>
      <p:pic>
        <p:nvPicPr>
          <p:cNvPr id="18" name="Immagine 17" descr="Immagine che contiene simbolo, logo, Elementi grafici, Blu elettrico&#10;&#10;Il contenuto generato dall'IA potrebbe non essere corretto.">
            <a:extLst>
              <a:ext uri="{FF2B5EF4-FFF2-40B4-BE49-F238E27FC236}">
                <a16:creationId xmlns:a16="http://schemas.microsoft.com/office/drawing/2014/main" id="{3E22610F-D712-2BC7-60D2-EE4A6C94C6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0991" y="3608499"/>
            <a:ext cx="794791" cy="838341"/>
          </a:xfrm>
          <a:prstGeom prst="rect">
            <a:avLst/>
          </a:prstGeom>
        </p:spPr>
      </p:pic>
      <p:pic>
        <p:nvPicPr>
          <p:cNvPr id="20" name="Immagine 19" descr="Immagine che contiene schizzo, disegno, illustrazione&#10;&#10;Il contenuto generato dall'IA potrebbe non essere corretto.">
            <a:extLst>
              <a:ext uri="{FF2B5EF4-FFF2-40B4-BE49-F238E27FC236}">
                <a16:creationId xmlns:a16="http://schemas.microsoft.com/office/drawing/2014/main" id="{63F81E6E-BF62-0BE4-E571-DA846A9C01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8066" y="3615501"/>
            <a:ext cx="910507" cy="877196"/>
          </a:xfrm>
          <a:prstGeom prst="rect">
            <a:avLst/>
          </a:prstGeom>
        </p:spPr>
      </p:pic>
      <p:pic>
        <p:nvPicPr>
          <p:cNvPr id="22" name="Immagine 21" descr="Immagine che contiene simbolo, clipart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69704F02-6DF0-1973-9ACD-DB6714A40B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8950" y="3670251"/>
            <a:ext cx="819825" cy="767697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C9B3F7C-E1B7-421E-1A4B-FB001D0DC358}"/>
              </a:ext>
            </a:extLst>
          </p:cNvPr>
          <p:cNvSpPr txBox="1"/>
          <p:nvPr/>
        </p:nvSpPr>
        <p:spPr>
          <a:xfrm>
            <a:off x="3189246" y="3803848"/>
            <a:ext cx="3826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PYTHON, VISUAL STUDIO CODE e FLASK per il </a:t>
            </a:r>
            <a:r>
              <a:rPr lang="it-IT" dirty="0" err="1"/>
              <a:t>backend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71372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6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77C0F-428A-8B4D-B18A-BC19217C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WIREFRAME DELL’APP</a:t>
            </a:r>
          </a:p>
        </p:txBody>
      </p:sp>
      <p:pic>
        <p:nvPicPr>
          <p:cNvPr id="4" name="Immagine 3" descr="Immagine che contiene testo, schermata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217FE4B0-D712-635C-F1D1-D43A9F798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200" y="1019785"/>
            <a:ext cx="830804" cy="1849143"/>
          </a:xfrm>
          <a:prstGeom prst="rect">
            <a:avLst/>
          </a:prstGeom>
        </p:spPr>
      </p:pic>
      <p:pic>
        <p:nvPicPr>
          <p:cNvPr id="26" name="Immagine 2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B8A02DE-DEB9-3CE5-085A-AEC786AC5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628991" y="3044883"/>
            <a:ext cx="830802" cy="1849140"/>
          </a:xfrm>
          <a:prstGeom prst="rect">
            <a:avLst/>
          </a:prstGeom>
        </p:spPr>
      </p:pic>
      <p:pic>
        <p:nvPicPr>
          <p:cNvPr id="28" name="Immagine 27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5A62DBC2-49C9-4D2B-5B8A-40074EE76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2708" y="1067394"/>
            <a:ext cx="864552" cy="1924258"/>
          </a:xfrm>
          <a:prstGeom prst="rect">
            <a:avLst/>
          </a:prstGeom>
        </p:spPr>
      </p:pic>
      <p:pic>
        <p:nvPicPr>
          <p:cNvPr id="30" name="Immagine 29" descr="Immagine che contiene testo, schermata, biglietto da visita, design&#10;&#10;Il contenuto generato dall'IA potrebbe non essere corretto.">
            <a:extLst>
              <a:ext uri="{FF2B5EF4-FFF2-40B4-BE49-F238E27FC236}">
                <a16:creationId xmlns:a16="http://schemas.microsoft.com/office/drawing/2014/main" id="{030715D4-13A2-9A99-BC46-49964438F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9986" y="1057344"/>
            <a:ext cx="864552" cy="1924259"/>
          </a:xfrm>
          <a:prstGeom prst="rect">
            <a:avLst/>
          </a:prstGeom>
        </p:spPr>
      </p:pic>
      <p:pic>
        <p:nvPicPr>
          <p:cNvPr id="32" name="Immagine 31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7D876EF-870A-461F-D6E3-AF266C3C95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5331" y="3073459"/>
            <a:ext cx="864553" cy="1924259"/>
          </a:xfrm>
          <a:prstGeom prst="rect">
            <a:avLst/>
          </a:prstGeom>
        </p:spPr>
      </p:pic>
      <p:pic>
        <p:nvPicPr>
          <p:cNvPr id="34" name="Immagine 33" descr="Immagine che contiene testo, schermata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5AF193D-71B0-A3F6-0501-C0D09EAB8D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9002" y="1058737"/>
            <a:ext cx="838875" cy="1867109"/>
          </a:xfrm>
          <a:prstGeom prst="rect">
            <a:avLst/>
          </a:prstGeom>
        </p:spPr>
      </p:pic>
      <p:pic>
        <p:nvPicPr>
          <p:cNvPr id="36" name="Immagine 3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9F8718C3-4DCB-1ED3-E28B-E299F8ED67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3124" y="3073459"/>
            <a:ext cx="838876" cy="1867109"/>
          </a:xfrm>
          <a:prstGeom prst="rect">
            <a:avLst/>
          </a:prstGeom>
        </p:spPr>
      </p:pic>
      <p:pic>
        <p:nvPicPr>
          <p:cNvPr id="38" name="Immagine 37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81F0ABAE-28AE-C04C-9E3D-B61298F422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2344" y="1048800"/>
            <a:ext cx="838876" cy="1867109"/>
          </a:xfrm>
          <a:prstGeom prst="rect">
            <a:avLst/>
          </a:prstGeom>
        </p:spPr>
      </p:pic>
      <p:pic>
        <p:nvPicPr>
          <p:cNvPr id="40" name="Immagine 39" descr="Immagine che contiene testo, schermata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5938B6A7-133E-B8E0-A180-2A475E9BAD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1095" y="1057344"/>
            <a:ext cx="830803" cy="1849140"/>
          </a:xfrm>
          <a:prstGeom prst="rect">
            <a:avLst/>
          </a:prstGeom>
        </p:spPr>
      </p:pic>
      <p:pic>
        <p:nvPicPr>
          <p:cNvPr id="42" name="Immagine 41" descr="Immagine che contiene testo, schermata, cerchio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AC90764F-519C-F11F-4791-3F7545F717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36779" y="1039005"/>
            <a:ext cx="890062" cy="1981036"/>
          </a:xfrm>
          <a:prstGeom prst="rect">
            <a:avLst/>
          </a:prstGeom>
        </p:spPr>
      </p:pic>
      <p:pic>
        <p:nvPicPr>
          <p:cNvPr id="44" name="Immagine 43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D54A1AA3-F9D8-A2C5-A901-76D1109BB44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08393" y="3073460"/>
            <a:ext cx="864552" cy="1924258"/>
          </a:xfrm>
          <a:prstGeom prst="rect">
            <a:avLst/>
          </a:prstGeom>
        </p:spPr>
      </p:pic>
      <p:pic>
        <p:nvPicPr>
          <p:cNvPr id="46" name="Immagine 45" descr="Immagine che contiene testo, schermata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0BC4043E-2ACA-8C92-2EA6-1753C6C170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3726" y="1035021"/>
            <a:ext cx="864553" cy="1924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37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Calendario utente per salvare eventi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01592-9091-B6BB-BCF7-AC764016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err="1"/>
              <a:t>WireFrame</a:t>
            </a:r>
            <a:r>
              <a:rPr lang="it-IT" dirty="0"/>
              <a:t> Sito Web</a:t>
            </a:r>
          </a:p>
        </p:txBody>
      </p:sp>
      <p:pic>
        <p:nvPicPr>
          <p:cNvPr id="4" name="Immagine 3" descr="Immagine che contiene schermata, testo, logo, design&#10;&#10;Il contenuto generato dall'IA potrebbe non essere corretto.">
            <a:extLst>
              <a:ext uri="{FF2B5EF4-FFF2-40B4-BE49-F238E27FC236}">
                <a16:creationId xmlns:a16="http://schemas.microsoft.com/office/drawing/2014/main" id="{C21A3941-3879-616F-57A1-40E55E67E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078110"/>
            <a:ext cx="2128393" cy="1513524"/>
          </a:xfrm>
          <a:prstGeom prst="rect">
            <a:avLst/>
          </a:prstGeom>
        </p:spPr>
      </p:pic>
      <p:pic>
        <p:nvPicPr>
          <p:cNvPr id="6" name="Immagine 5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777AEA47-1166-EF02-2650-BCA802532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044" y="1089019"/>
            <a:ext cx="2085090" cy="1482731"/>
          </a:xfrm>
          <a:prstGeom prst="rect">
            <a:avLst/>
          </a:prstGeom>
        </p:spPr>
      </p:pic>
      <p:pic>
        <p:nvPicPr>
          <p:cNvPr id="8" name="Immagine 7" descr="Immagine che contiene schermata, testo, design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8236F5C8-2173-2BCF-EAA8-427E84649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9085" y="1078110"/>
            <a:ext cx="2128393" cy="1513524"/>
          </a:xfrm>
          <a:prstGeom prst="rect">
            <a:avLst/>
          </a:prstGeom>
        </p:spPr>
      </p:pic>
      <p:pic>
        <p:nvPicPr>
          <p:cNvPr id="10" name="Immagine 9" descr="Immagine che contiene schermata, testo, cerchio, design&#10;&#10;Il contenuto generato dall'IA potrebbe non essere corretto.">
            <a:extLst>
              <a:ext uri="{FF2B5EF4-FFF2-40B4-BE49-F238E27FC236}">
                <a16:creationId xmlns:a16="http://schemas.microsoft.com/office/drawing/2014/main" id="{C4AD75DE-06D1-537A-DB7A-87D752986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8763" y="2838509"/>
            <a:ext cx="2240972" cy="1593580"/>
          </a:xfrm>
          <a:prstGeom prst="rect">
            <a:avLst/>
          </a:prstGeom>
        </p:spPr>
      </p:pic>
      <p:pic>
        <p:nvPicPr>
          <p:cNvPr id="12" name="Immagine 11" descr="Immagine che contiene testo, schermata, cerchio, diagramma&#10;&#10;Il contenuto generato dall'IA potrebbe non essere corretto.">
            <a:extLst>
              <a:ext uri="{FF2B5EF4-FFF2-40B4-BE49-F238E27FC236}">
                <a16:creationId xmlns:a16="http://schemas.microsoft.com/office/drawing/2014/main" id="{AEAE007B-6A8C-99BD-7749-F1EBF14757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8749" y="2838509"/>
            <a:ext cx="2240972" cy="1593580"/>
          </a:xfrm>
          <a:prstGeom prst="rect">
            <a:avLst/>
          </a:prstGeom>
        </p:spPr>
      </p:pic>
      <p:pic>
        <p:nvPicPr>
          <p:cNvPr id="14" name="Immagine 13" descr="Immagine che contiene testo, schermata, cerchio, Carattere&#10;&#10;Il contenuto generato dall'IA potrebbe non essere corretto.">
            <a:extLst>
              <a:ext uri="{FF2B5EF4-FFF2-40B4-BE49-F238E27FC236}">
                <a16:creationId xmlns:a16="http://schemas.microsoft.com/office/drawing/2014/main" id="{D95841B2-2456-E748-DEA3-96AA3DD12D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3756" y="2838509"/>
            <a:ext cx="2240972" cy="159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030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A74FC-2392-6C82-B228-D989AD37A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:</a:t>
            </a:r>
            <a:br>
              <a:rPr lang="it-IT" dirty="0"/>
            </a:b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F17B37D-25B2-0066-AB5D-E47A9FFD9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FLASK: Framework per gestire le API, ossia quello strumento che permette l’interazione tra </a:t>
            </a:r>
            <a:r>
              <a:rPr lang="it-IT" dirty="0" err="1"/>
              <a:t>frontend</a:t>
            </a:r>
            <a:r>
              <a:rPr lang="it-IT" dirty="0"/>
              <a:t> (Sito WEB o APP) e </a:t>
            </a:r>
            <a:r>
              <a:rPr lang="it-IT" dirty="0" err="1"/>
              <a:t>backend</a:t>
            </a:r>
            <a:r>
              <a:rPr lang="it-IT" dirty="0"/>
              <a:t>, ossia l’interfaccia utente e la logica di programmazione, nonché le interazioni con il DB.</a:t>
            </a:r>
          </a:p>
          <a:p>
            <a:pPr marL="114300" indent="0">
              <a:buNone/>
            </a:pPr>
            <a:r>
              <a:rPr lang="it-IT" dirty="0"/>
              <a:t>Come linguaggio di programmazione per le API </a:t>
            </a:r>
            <a:r>
              <a:rPr lang="it-IT" dirty="0" err="1"/>
              <a:t>Flask</a:t>
            </a:r>
            <a:r>
              <a:rPr lang="it-IT" dirty="0"/>
              <a:t> viene </a:t>
            </a:r>
            <a:r>
              <a:rPr lang="it-IT" dirty="0" err="1"/>
              <a:t>uttilizzato</a:t>
            </a:r>
            <a:r>
              <a:rPr lang="it-IT" dirty="0"/>
              <a:t> PYTHON.</a:t>
            </a:r>
          </a:p>
          <a:p>
            <a:pPr marL="114300" indent="0">
              <a:buNone/>
            </a:pPr>
            <a:r>
              <a:rPr lang="it-IT" dirty="0"/>
              <a:t>Come ambiente di sviluppo invece VISUAL STUDIO CODE.</a:t>
            </a:r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DataBase</a:t>
            </a:r>
            <a:r>
              <a:rPr lang="it-IT" dirty="0"/>
              <a:t> si è scelto un tipo di DB relazionale, MYSQL, e come ambiente di sviluppo del DB è stato utilizzato WORKBENCH.</a:t>
            </a:r>
          </a:p>
        </p:txBody>
      </p:sp>
    </p:spTree>
    <p:extLst>
      <p:ext uri="{BB962C8B-B14F-4D97-AF65-F5344CB8AC3E}">
        <p14:creationId xmlns:p14="http://schemas.microsoft.com/office/powerpoint/2010/main" val="3964257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D9EF37-8F27-BC8E-AAF6-3229445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FrontEnd</a:t>
            </a:r>
            <a:r>
              <a:rPr lang="it-IT" dirty="0"/>
              <a:t>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95D409D-E62D-C19E-4EB3-D40E09268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dell’App Mobile, si utilizza Android, come linguaggio di programmazione JAVA (e XML come linguaggio di scripting per i layout grafici), e come IDE ANDROID STUDIO.</a:t>
            </a:r>
          </a:p>
          <a:p>
            <a:pPr marL="114300" indent="0">
              <a:buNone/>
            </a:pPr>
            <a:endParaRPr lang="it-IT" dirty="0"/>
          </a:p>
          <a:p>
            <a:pPr marL="114300" indent="0">
              <a:buNone/>
            </a:pPr>
            <a:r>
              <a:rPr lang="it-IT" dirty="0"/>
              <a:t>Per il </a:t>
            </a:r>
            <a:r>
              <a:rPr lang="it-IT" dirty="0" err="1"/>
              <a:t>FrontEnd</a:t>
            </a:r>
            <a:r>
              <a:rPr lang="it-IT" dirty="0"/>
              <a:t> del sito Web si utilizzano HTML per la struttura e CSS per lo stile grafico.</a:t>
            </a:r>
          </a:p>
        </p:txBody>
      </p:sp>
    </p:spTree>
    <p:extLst>
      <p:ext uri="{BB962C8B-B14F-4D97-AF65-F5344CB8AC3E}">
        <p14:creationId xmlns:p14="http://schemas.microsoft.com/office/powerpoint/2010/main" val="2983094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09BA0-8EEF-C875-3258-62B10C489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382350"/>
            <a:ext cx="4045200" cy="699543"/>
          </a:xfrm>
        </p:spPr>
        <p:txBody>
          <a:bodyPr/>
          <a:lstStyle/>
          <a:p>
            <a:r>
              <a:rPr lang="it-IT" dirty="0"/>
              <a:t>Schermate App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28CDC97-0B7A-1406-1CE0-421668C22F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15858"/>
            <a:ext cx="4045200" cy="3027642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Home</a:t>
            </a:r>
            <a:r>
              <a:rPr lang="it-IT" dirty="0"/>
              <a:t>:</a:t>
            </a: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- lista con tutti i nostri animali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  - possibilità di registrarne di nuovi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   - lista di attività registrate di oggi 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it-IT" sz="1800" kern="100" dirty="0"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 </a:t>
            </a:r>
            <a:r>
              <a:rPr lang="it-IT" sz="1800" kern="1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- bottone per cercare servizi nell’area</a:t>
            </a:r>
            <a:endParaRPr lang="it-IT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it-IT" dirty="0"/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AD73E6A9-D057-7B2B-3A8B-8EB6C237A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56" y="812703"/>
            <a:ext cx="1986687" cy="3518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234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926161D-599C-A7B6-3E6D-E02FBD6A45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1307592"/>
            <a:ext cx="4045200" cy="2807207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Profilo Animale:</a:t>
            </a:r>
          </a:p>
          <a:p>
            <a:r>
              <a:rPr lang="it-IT" dirty="0"/>
              <a:t>Riepilogo Info Animale</a:t>
            </a:r>
          </a:p>
          <a:p>
            <a:r>
              <a:rPr lang="it-IT" dirty="0"/>
              <a:t>Accesso a modifica delle info</a:t>
            </a:r>
          </a:p>
          <a:p>
            <a:r>
              <a:rPr lang="it-IT" dirty="0"/>
              <a:t>Accesso cartella clinica</a:t>
            </a:r>
          </a:p>
          <a:p>
            <a:r>
              <a:rPr lang="it-IT" dirty="0"/>
              <a:t>Inserimento rating emotivo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941C5F-0264-87FF-F0D4-9C684704F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925" y="603181"/>
            <a:ext cx="2176731" cy="3659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1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0EC3D98B-6209-4992-EBC1-F1519CFA91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9" y="1552522"/>
            <a:ext cx="4045200" cy="2866778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Cartella Clinica: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Tasto per inserire nuovi dati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Finestra di dialogo per inserimento e salvataggio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Lista dove vengono visualizzati i dati </a:t>
            </a:r>
          </a:p>
          <a:p>
            <a:pPr>
              <a:buFontTx/>
              <a:buChar char="-"/>
            </a:pPr>
            <a:r>
              <a:rPr lang="it-IT" dirty="0">
                <a:solidFill>
                  <a:schemeClr val="tx1"/>
                </a:solidFill>
              </a:rPr>
              <a:t>Possibilità di eliminare singola voce</a:t>
            </a:r>
          </a:p>
        </p:txBody>
      </p:sp>
      <p:pic>
        <p:nvPicPr>
          <p:cNvPr id="8" name="Immagine 7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8F2F0E1C-DCAC-E145-8798-37789B6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268" y="885075"/>
            <a:ext cx="1852417" cy="3373349"/>
          </a:xfrm>
          <a:prstGeom prst="rect">
            <a:avLst/>
          </a:prstGeom>
        </p:spPr>
      </p:pic>
      <p:pic>
        <p:nvPicPr>
          <p:cNvPr id="10" name="Immagine 9" descr="Immagine che contiene schermata, testo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1AA41953-505A-73C6-6E1E-B7BE4EEC3C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76" y="2077814"/>
            <a:ext cx="1854295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863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683FB08-460E-B52F-C940-FFEC72A827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4678" y="1226249"/>
            <a:ext cx="4045200" cy="304367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Calendario:</a:t>
            </a:r>
          </a:p>
          <a:p>
            <a:r>
              <a:rPr lang="it-IT" dirty="0"/>
              <a:t>-Selezione di un giorno con apertura </a:t>
            </a:r>
            <a:r>
              <a:rPr lang="it-IT" dirty="0" err="1"/>
              <a:t>dialog</a:t>
            </a:r>
            <a:r>
              <a:rPr lang="it-IT" dirty="0"/>
              <a:t> per aggiungere evento</a:t>
            </a:r>
          </a:p>
          <a:p>
            <a:r>
              <a:rPr lang="it-IT" dirty="0"/>
              <a:t>-Con la pressione prolungata del giorno visualizza lista eventi con icona per rimozione</a:t>
            </a:r>
          </a:p>
        </p:txBody>
      </p:sp>
      <p:pic>
        <p:nvPicPr>
          <p:cNvPr id="6" name="Immagine 5" descr="Immagine che contiene testo, schermata, Sistema operativo, software&#10;&#10;Il contenuto generato dall'IA potrebbe non essere corretto.">
            <a:extLst>
              <a:ext uri="{FF2B5EF4-FFF2-40B4-BE49-F238E27FC236}">
                <a16:creationId xmlns:a16="http://schemas.microsoft.com/office/drawing/2014/main" id="{C967C7ED-0BFC-3B58-BFD8-8A8700C10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410" y="494095"/>
            <a:ext cx="1868320" cy="4155310"/>
          </a:xfrm>
          <a:prstGeom prst="rect">
            <a:avLst/>
          </a:prstGeom>
        </p:spPr>
      </p:pic>
      <p:pic>
        <p:nvPicPr>
          <p:cNvPr id="8" name="Immagine 7" descr="Immagine che contiene testo, schermata, Carattere, logo&#10;&#10;Il contenuto generato dall'IA potrebbe non essere corretto.">
            <a:extLst>
              <a:ext uri="{FF2B5EF4-FFF2-40B4-BE49-F238E27FC236}">
                <a16:creationId xmlns:a16="http://schemas.microsoft.com/office/drawing/2014/main" id="{2AED0D5E-9647-D25D-ABC8-3D4767F4C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585" y="1104825"/>
            <a:ext cx="1968601" cy="1466925"/>
          </a:xfrm>
          <a:prstGeom prst="rect">
            <a:avLst/>
          </a:prstGeom>
        </p:spPr>
      </p:pic>
      <p:pic>
        <p:nvPicPr>
          <p:cNvPr id="10" name="Immagine 9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C86F3A8D-F5A4-EAD1-6C8E-C212F348B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4585" y="2861089"/>
            <a:ext cx="1968601" cy="151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54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8F8C9A6-B4FB-88FB-F809-3F6F0716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8350" y="1821289"/>
            <a:ext cx="4045200" cy="1500921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Animale:</a:t>
            </a:r>
          </a:p>
          <a:p>
            <a:r>
              <a:rPr lang="it-IT" dirty="0"/>
              <a:t>-Campi Nome, Altezza, Peso, Sesso, Descrizione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CC92AFB8-57C0-38BB-AFBD-B840D389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4361" y="310858"/>
            <a:ext cx="2000130" cy="452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0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BB8EB369-F853-45C9-1940-5B5E18E52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1828" y="1805616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Utente:</a:t>
            </a:r>
          </a:p>
          <a:p>
            <a:r>
              <a:rPr lang="it-IT" dirty="0"/>
              <a:t>-Campi da compilare: Nome, Cognome, Telefono, Email, Indirizzo, Password</a:t>
            </a:r>
          </a:p>
        </p:txBody>
      </p:sp>
      <p:pic>
        <p:nvPicPr>
          <p:cNvPr id="6" name="Immagine 5" descr="Immagine che contiene testo, schermata, design&#10;&#10;Il contenuto generato dall'IA potrebbe non essere corretto.">
            <a:extLst>
              <a:ext uri="{FF2B5EF4-FFF2-40B4-BE49-F238E27FC236}">
                <a16:creationId xmlns:a16="http://schemas.microsoft.com/office/drawing/2014/main" id="{61CAAC37-8841-E27A-5D15-D6858193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292" y="272014"/>
            <a:ext cx="2013853" cy="447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172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49C205EE-47E1-205F-245D-5EA556D092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322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Schermata Login WEB:</a:t>
            </a:r>
          </a:p>
          <a:p>
            <a:r>
              <a:rPr lang="it-IT" dirty="0"/>
              <a:t>- Inserimento dati utente </a:t>
            </a:r>
          </a:p>
        </p:txBody>
      </p:sp>
      <p:pic>
        <p:nvPicPr>
          <p:cNvPr id="6" name="Immagine 5" descr="Immagine che contiene testo, schermat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95BA0C4C-278C-0E3B-2337-F6071AE01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025" y="552696"/>
            <a:ext cx="4259933" cy="3796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5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C3506336-8AD7-FA48-AEB0-FC32DB17DF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23" y="1397401"/>
            <a:ext cx="4045200" cy="1345500"/>
          </a:xfrm>
        </p:spPr>
        <p:txBody>
          <a:bodyPr/>
          <a:lstStyle/>
          <a:p>
            <a:r>
              <a:rPr lang="it-IT" dirty="0">
                <a:solidFill>
                  <a:srgbClr val="FF0000"/>
                </a:solidFill>
              </a:rPr>
              <a:t>Registrazione Fornitore:</a:t>
            </a:r>
          </a:p>
          <a:p>
            <a:r>
              <a:rPr lang="it-IT" dirty="0"/>
              <a:t>- Campi per inserimento dati fornitore: Nome, Cognome, Email, Telefono, Password, Conferma Password</a:t>
            </a:r>
          </a:p>
        </p:txBody>
      </p:sp>
      <p:pic>
        <p:nvPicPr>
          <p:cNvPr id="6" name="Immagine 5" descr="Immagine che contiene testo, schermata, numero, Carattere&#10;&#10;Il contenuto generato dall'IA potrebbe non essere corretto.">
            <a:extLst>
              <a:ext uri="{FF2B5EF4-FFF2-40B4-BE49-F238E27FC236}">
                <a16:creationId xmlns:a16="http://schemas.microsoft.com/office/drawing/2014/main" id="{FC44E5AB-7344-D073-74E6-5A05D5AA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066" y="391887"/>
            <a:ext cx="433951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54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2D28D-EE75-A61C-A287-48DDD4624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Backend</a:t>
            </a:r>
            <a:r>
              <a:rPr lang="it-IT" dirty="0"/>
              <a:t> API: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3421EB6-7FA7-C1EC-BF77-1407BC6195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71600"/>
            <a:ext cx="8611864" cy="477586"/>
          </a:xfrm>
        </p:spPr>
        <p:txBody>
          <a:bodyPr/>
          <a:lstStyle/>
          <a:p>
            <a:pPr marL="114300" indent="0">
              <a:buNone/>
            </a:pPr>
            <a:r>
              <a:rPr lang="it-IT" dirty="0"/>
              <a:t>Esempio di chiamata API per login utente:</a:t>
            </a:r>
          </a:p>
          <a:p>
            <a:pPr marL="114300" indent="0">
              <a:buNone/>
            </a:pPr>
            <a:endParaRPr lang="it-IT" dirty="0"/>
          </a:p>
        </p:txBody>
      </p:sp>
      <p:pic>
        <p:nvPicPr>
          <p:cNvPr id="5" name="Immagine 4" descr="Immagine che contiene testo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C87F5838-F357-6E8D-FED6-7151B6760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372" y="1620635"/>
            <a:ext cx="3785810" cy="842297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10E82A1-BB3C-27F5-0B41-9C7C53CF5534}"/>
              </a:ext>
            </a:extLst>
          </p:cNvPr>
          <p:cNvSpPr txBox="1"/>
          <p:nvPr/>
        </p:nvSpPr>
        <p:spPr>
          <a:xfrm>
            <a:off x="4377199" y="1718617"/>
            <a:ext cx="4644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 dati inseriti dall’utente vengono salvati in due stringhe</a:t>
            </a:r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92FD4A-42E4-C59C-1B30-E5515810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73" y="2571750"/>
            <a:ext cx="3785810" cy="411108"/>
          </a:xfrm>
          <a:prstGeom prst="rect">
            <a:avLst/>
          </a:prstGeom>
        </p:spPr>
      </p:pic>
      <p:pic>
        <p:nvPicPr>
          <p:cNvPr id="10" name="Immagine 9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1F13FEA4-2CA5-34F7-CBA4-0427FA5B7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72" y="3219421"/>
            <a:ext cx="3791145" cy="110495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6432613A-C738-E41B-6245-706BA40D5BB1}"/>
              </a:ext>
            </a:extLst>
          </p:cNvPr>
          <p:cNvSpPr txBox="1"/>
          <p:nvPr/>
        </p:nvSpPr>
        <p:spPr>
          <a:xfrm>
            <a:off x="4377199" y="2399663"/>
            <a:ext cx="47096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Attraverso una classe chiamata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APIService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, i dati vengono inviati in formato JSON a un endpoint</a:t>
            </a:r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1D92E78-E262-6FB0-37C5-0FA314D8D0FD}"/>
              </a:ext>
            </a:extLst>
          </p:cNvPr>
          <p:cNvSpPr txBox="1"/>
          <p:nvPr/>
        </p:nvSpPr>
        <p:spPr>
          <a:xfrm>
            <a:off x="4351564" y="335770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l’endpoint di </a:t>
            </a:r>
            <a:r>
              <a:rPr lang="it-IT" sz="1800" dirty="0" err="1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Flask</a:t>
            </a:r>
            <a:r>
              <a:rPr lang="it-IT" sz="1800" dirty="0">
                <a:effectLst/>
                <a:latin typeface="Amasis MT Pro" panose="020405040500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prende i dati e con essi genera una richiesta(query) al server. Se un utente corrisponde alle credenziali, l’esito della richiesta sarà positivo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087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2" grpId="0"/>
      <p:bldP spid="14" grpId="0"/>
    </p:bldLst>
  </p:timing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610</Words>
  <Application>Microsoft Office PowerPoint</Application>
  <PresentationFormat>Presentazione su schermo (16:9)</PresentationFormat>
  <Paragraphs>95</Paragraphs>
  <Slides>22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Amasis MT Pro</vt:lpstr>
      <vt:lpstr>Old Standard TT</vt:lpstr>
      <vt:lpstr>Arial</vt:lpstr>
      <vt:lpstr>Paperback</vt:lpstr>
      <vt:lpstr>Presentazione dello sviluppo di «Crickle»</vt:lpstr>
      <vt:lpstr>Il progetto</vt:lpstr>
      <vt:lpstr>CRIKLE – L’APP PER GESTIRE IL TUO PET</vt:lpstr>
      <vt:lpstr>CRIKLE – PORTALE WEB</vt:lpstr>
      <vt:lpstr>LA STRUTTURA DEL PROGETTO</vt:lpstr>
      <vt:lpstr>SCHEMA ER</vt:lpstr>
      <vt:lpstr>STRUMENTI UTILIZZATI</vt:lpstr>
      <vt:lpstr>I programmi </vt:lpstr>
      <vt:lpstr>WIREFRAME DELL’APP</vt:lpstr>
      <vt:lpstr>L’APP</vt:lpstr>
      <vt:lpstr>WireFrame Sito Web</vt:lpstr>
      <vt:lpstr>Backend: </vt:lpstr>
      <vt:lpstr>FrontEnd:</vt:lpstr>
      <vt:lpstr>Schermate App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Backend API: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Federica Panceri</cp:lastModifiedBy>
  <cp:revision>6</cp:revision>
  <dcterms:modified xsi:type="dcterms:W3CDTF">2025-04-11T07:44:58Z</dcterms:modified>
</cp:coreProperties>
</file>